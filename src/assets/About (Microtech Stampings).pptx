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60" r:id="rId4"/>
    <p:sldId id="262" r:id="rId5"/>
    <p:sldId id="261" r:id="rId6"/>
    <p:sldId id="259" r:id="rId7"/>
    <p:sldId id="25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E95ED7-9C04-4D82-9CB1-C514D68D4454}" type="datetimeFigureOut">
              <a:rPr lang="en-IN" smtClean="0"/>
              <a:t>09-09-2025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F08C1-7C75-4B17-95D0-2B086E687294}" type="slidenum">
              <a:rPr lang="en-IN" smtClean="0"/>
              <a:t>‹#›</a:t>
            </a:fld>
            <a:endParaRPr lang="en-IN"/>
          </a:p>
        </p:txBody>
      </p:sp>
    </p:spTree>
    <p:extLst>
      <p:ext uri="{BB962C8B-B14F-4D97-AF65-F5344CB8AC3E}">
        <p14:creationId xmlns:p14="http://schemas.microsoft.com/office/powerpoint/2010/main" val="3871359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141BA26-105F-44BC-A01B-0D164BBE64B5}" type="slidenum">
              <a:rPr lang="en-IN" smtClean="0"/>
              <a:t>5</a:t>
            </a:fld>
            <a:endParaRPr lang="en-IN"/>
          </a:p>
        </p:txBody>
      </p:sp>
    </p:spTree>
    <p:extLst>
      <p:ext uri="{BB962C8B-B14F-4D97-AF65-F5344CB8AC3E}">
        <p14:creationId xmlns:p14="http://schemas.microsoft.com/office/powerpoint/2010/main" val="1257396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CF3D-7B5F-C147-1EF3-80EBE3DBAF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7931EF-9283-5A0B-EE2B-82F4220498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B0F34C-82EA-60F1-178D-81CA76877D0D}"/>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5" name="Footer Placeholder 4">
            <a:extLst>
              <a:ext uri="{FF2B5EF4-FFF2-40B4-BE49-F238E27FC236}">
                <a16:creationId xmlns:a16="http://schemas.microsoft.com/office/drawing/2014/main" id="{D14DDC5C-33D2-7603-F171-833BB30A4E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2BC546-5E78-7BF1-5734-568FC1F332F3}"/>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2341120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9199-8A0A-0D7E-17DE-46F4101422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2A24C9-B595-3A96-0D39-4B2A807CA9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D78EC-D559-37A5-F4A7-8B1DC61E799D}"/>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5" name="Footer Placeholder 4">
            <a:extLst>
              <a:ext uri="{FF2B5EF4-FFF2-40B4-BE49-F238E27FC236}">
                <a16:creationId xmlns:a16="http://schemas.microsoft.com/office/drawing/2014/main" id="{C0F2CE2D-C6FA-DC87-C8DF-51E7F0315B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1AFD38-6FC3-EB1A-FA58-DF59BE0B67CB}"/>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3743989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BECA8-9BAA-2A67-F790-2F848F8C41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26EC6D-B37B-C221-FF5D-41D95A1F60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E029C3-F825-6FEC-56CD-D81277ADB70E}"/>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5" name="Footer Placeholder 4">
            <a:extLst>
              <a:ext uri="{FF2B5EF4-FFF2-40B4-BE49-F238E27FC236}">
                <a16:creationId xmlns:a16="http://schemas.microsoft.com/office/drawing/2014/main" id="{EDCF75B1-3283-EA09-63F4-F20ED2A108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AB6085-1D12-A277-CF17-D90DA725BCB1}"/>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6981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8E94B-67C7-0C81-6351-A1369756E3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131762-87B2-2E14-71FE-E0BE464661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017928-C65D-2E3F-A685-70D6F470BF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D33E95-76AB-0994-C094-C39131FDB7EA}"/>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6" name="Footer Placeholder 5">
            <a:extLst>
              <a:ext uri="{FF2B5EF4-FFF2-40B4-BE49-F238E27FC236}">
                <a16:creationId xmlns:a16="http://schemas.microsoft.com/office/drawing/2014/main" id="{E535E1DA-C6B0-8119-97E3-99E1D8308A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3E9B08-3C1F-9143-C4F2-AB3B16BBF717}"/>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1604301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57CB-87D0-A2B0-2001-1B9DABC64AE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1FBCC5-1128-426C-E797-6178A2BC91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DD5AC8-8FE9-E88A-5590-D6D153BE4B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48199C-A594-86C2-2F7F-A528061674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858166-80AB-8960-DCA7-9524FBE8B2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E47C19-CBC7-D155-D391-DD61624214E9}"/>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8" name="Footer Placeholder 7">
            <a:extLst>
              <a:ext uri="{FF2B5EF4-FFF2-40B4-BE49-F238E27FC236}">
                <a16:creationId xmlns:a16="http://schemas.microsoft.com/office/drawing/2014/main" id="{04EBBF6A-501C-4E21-C215-5EC28721A27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276B53-FDE5-7A25-6AF6-825021DD3FF5}"/>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17698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CFBE-B662-E2E8-D0E8-C2D704B3D2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E7A0EB-373B-0A90-9FD9-C6CB7A43F1E8}"/>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4" name="Footer Placeholder 3">
            <a:extLst>
              <a:ext uri="{FF2B5EF4-FFF2-40B4-BE49-F238E27FC236}">
                <a16:creationId xmlns:a16="http://schemas.microsoft.com/office/drawing/2014/main" id="{35ABFE30-DBD4-D30B-C17B-5768E0F68C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6974A0-4753-E4E7-7358-09A601F7C60C}"/>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307446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E81038-F583-48DA-7FAB-1E168B72FEAF}"/>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3" name="Footer Placeholder 2">
            <a:extLst>
              <a:ext uri="{FF2B5EF4-FFF2-40B4-BE49-F238E27FC236}">
                <a16:creationId xmlns:a16="http://schemas.microsoft.com/office/drawing/2014/main" id="{80E51148-F802-752D-B64B-7CA3FDB8F9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3DBE04-6E3E-072C-D682-A96ACE79FE50}"/>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3199437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D85F9-7F5C-1903-BDE8-438068F1E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7EF84A-0101-2D67-5DEB-77532026F8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762B39-BC18-F0F8-7C72-7C35A23798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DAE0FB-FD65-1011-5EA8-DBD0263E9446}"/>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6" name="Footer Placeholder 5">
            <a:extLst>
              <a:ext uri="{FF2B5EF4-FFF2-40B4-BE49-F238E27FC236}">
                <a16:creationId xmlns:a16="http://schemas.microsoft.com/office/drawing/2014/main" id="{D1903F6C-55CF-61C5-26BB-5874D5B450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5B7129-203F-F4D7-4AB8-3B36BCC40D1B}"/>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39648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9D655-9E94-3107-6CFB-47A860309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F915D0-E486-4D96-8861-77C73814F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268A92-0D83-A42A-0A79-053F5D777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4FF70F-2712-F1A5-4AF4-9844EBE00AE8}"/>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6" name="Footer Placeholder 5">
            <a:extLst>
              <a:ext uri="{FF2B5EF4-FFF2-40B4-BE49-F238E27FC236}">
                <a16:creationId xmlns:a16="http://schemas.microsoft.com/office/drawing/2014/main" id="{4344950C-6885-951C-FFA5-42901A4987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6068A8-0650-385A-F660-D8E5336E4E95}"/>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1793118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34AB4-02FD-8075-A0B5-9091FC3C13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DD64D7-6861-A0DA-0C34-98FF7B327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5412A6-909E-E04A-FC5C-EF1C1AB25629}"/>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5" name="Footer Placeholder 4">
            <a:extLst>
              <a:ext uri="{FF2B5EF4-FFF2-40B4-BE49-F238E27FC236}">
                <a16:creationId xmlns:a16="http://schemas.microsoft.com/office/drawing/2014/main" id="{0C2D091B-B723-E488-A3C3-C2D2209449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6AA472-3221-1D63-C162-3E9226F7E1B0}"/>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2923497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FA2283-B5E9-A611-183A-C5A2300994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D04DA4-BDF2-EEA2-5442-303EB003FC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7F0FA1-D27C-7EFD-39A3-D8D002084307}"/>
              </a:ext>
            </a:extLst>
          </p:cNvPr>
          <p:cNvSpPr>
            <a:spLocks noGrp="1"/>
          </p:cNvSpPr>
          <p:nvPr>
            <p:ph type="dt" sz="half" idx="10"/>
          </p:nvPr>
        </p:nvSpPr>
        <p:spPr/>
        <p:txBody>
          <a:bodyPr/>
          <a:lstStyle/>
          <a:p>
            <a:fld id="{EF04CA9F-90DC-4E74-8ED8-471D4E1A47CD}" type="datetimeFigureOut">
              <a:rPr lang="en-IN" smtClean="0"/>
              <a:t>09-09-2025</a:t>
            </a:fld>
            <a:endParaRPr lang="en-IN"/>
          </a:p>
        </p:txBody>
      </p:sp>
      <p:sp>
        <p:nvSpPr>
          <p:cNvPr id="5" name="Footer Placeholder 4">
            <a:extLst>
              <a:ext uri="{FF2B5EF4-FFF2-40B4-BE49-F238E27FC236}">
                <a16:creationId xmlns:a16="http://schemas.microsoft.com/office/drawing/2014/main" id="{D5465888-4922-513D-541E-98663A5A66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A5B529-94B6-6BC5-11CA-D30B100DD9DD}"/>
              </a:ext>
            </a:extLst>
          </p:cNvPr>
          <p:cNvSpPr>
            <a:spLocks noGrp="1"/>
          </p:cNvSpPr>
          <p:nvPr>
            <p:ph type="sldNum" sz="quarter" idx="12"/>
          </p:nvPr>
        </p:nvSpPr>
        <p:spPr/>
        <p:txBody>
          <a:bodyPr/>
          <a:lstStyle/>
          <a:p>
            <a:fld id="{26B507D9-26E8-48F5-83FD-1B4D34D00E02}" type="slidenum">
              <a:rPr lang="en-IN" smtClean="0"/>
              <a:t>‹#›</a:t>
            </a:fld>
            <a:endParaRPr lang="en-IN"/>
          </a:p>
        </p:txBody>
      </p:sp>
    </p:spTree>
    <p:extLst>
      <p:ext uri="{BB962C8B-B14F-4D97-AF65-F5344CB8AC3E}">
        <p14:creationId xmlns:p14="http://schemas.microsoft.com/office/powerpoint/2010/main" val="3377504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E60958-32A7-0871-D522-03BC9C09DB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00C79E-B614-694B-C19F-0A5975D63F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8E344A-4C0B-8758-8877-2BDB73AE64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4CA9F-90DC-4E74-8ED8-471D4E1A47CD}" type="datetimeFigureOut">
              <a:rPr lang="en-IN" smtClean="0"/>
              <a:t>09-09-2025</a:t>
            </a:fld>
            <a:endParaRPr lang="en-IN"/>
          </a:p>
        </p:txBody>
      </p:sp>
      <p:sp>
        <p:nvSpPr>
          <p:cNvPr id="5" name="Footer Placeholder 4">
            <a:extLst>
              <a:ext uri="{FF2B5EF4-FFF2-40B4-BE49-F238E27FC236}">
                <a16:creationId xmlns:a16="http://schemas.microsoft.com/office/drawing/2014/main" id="{64B98795-4C9C-9119-0838-6F52ED1673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D09946-4A06-4F63-DA5D-B387477936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507D9-26E8-48F5-83FD-1B4D34D00E02}" type="slidenum">
              <a:rPr lang="en-IN" smtClean="0"/>
              <a:t>‹#›</a:t>
            </a:fld>
            <a:endParaRPr lang="en-IN"/>
          </a:p>
        </p:txBody>
      </p:sp>
    </p:spTree>
    <p:extLst>
      <p:ext uri="{BB962C8B-B14F-4D97-AF65-F5344CB8AC3E}">
        <p14:creationId xmlns:p14="http://schemas.microsoft.com/office/powerpoint/2010/main" val="1972323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B911-4B02-3C27-EA21-55C8BCFD9410}"/>
              </a:ext>
            </a:extLst>
          </p:cNvPr>
          <p:cNvSpPr>
            <a:spLocks noGrp="1"/>
          </p:cNvSpPr>
          <p:nvPr>
            <p:ph type="ctrTitle"/>
          </p:nvPr>
        </p:nvSpPr>
        <p:spPr>
          <a:xfrm>
            <a:off x="377072" y="81903"/>
            <a:ext cx="2972585" cy="506372"/>
          </a:xfrm>
        </p:spPr>
        <p:txBody>
          <a:bodyPr>
            <a:normAutofit/>
          </a:bodyPr>
          <a:lstStyle/>
          <a:p>
            <a:pPr algn="l"/>
            <a:r>
              <a:rPr lang="en-US" sz="2400" b="1" u="sng" dirty="0">
                <a:solidFill>
                  <a:srgbClr val="7030A0"/>
                </a:solidFill>
                <a:latin typeface="Algerian" panose="04020705040A02060702" pitchFamily="82" charset="0"/>
              </a:rPr>
              <a:t>About Company</a:t>
            </a:r>
            <a:endParaRPr lang="en-IN" sz="2400" b="1" u="sng" dirty="0">
              <a:solidFill>
                <a:srgbClr val="7030A0"/>
              </a:solidFill>
              <a:latin typeface="Algerian" panose="04020705040A02060702" pitchFamily="82" charset="0"/>
            </a:endParaRPr>
          </a:p>
        </p:txBody>
      </p:sp>
      <p:sp>
        <p:nvSpPr>
          <p:cNvPr id="4" name="TextBox 3">
            <a:extLst>
              <a:ext uri="{FF2B5EF4-FFF2-40B4-BE49-F238E27FC236}">
                <a16:creationId xmlns:a16="http://schemas.microsoft.com/office/drawing/2014/main" id="{9DA7BBB9-CC08-F441-B986-E690E0724534}"/>
              </a:ext>
            </a:extLst>
          </p:cNvPr>
          <p:cNvSpPr txBox="1"/>
          <p:nvPr/>
        </p:nvSpPr>
        <p:spPr>
          <a:xfrm>
            <a:off x="622168" y="1027522"/>
            <a:ext cx="9764223" cy="2031325"/>
          </a:xfrm>
          <a:prstGeom prst="rect">
            <a:avLst/>
          </a:prstGeom>
          <a:noFill/>
        </p:spPr>
        <p:txBody>
          <a:bodyPr wrap="square" rtlCol="0">
            <a:spAutoFit/>
          </a:bodyPr>
          <a:lstStyle/>
          <a:p>
            <a:r>
              <a:rPr lang="en-US" dirty="0"/>
              <a:t>Microtech Stampings incorporated in 2025. Located in Pune India, We Specialize in manufacturing high-precision, customized press metal components designed to meet the exacting demands of modern industries. We deliver components that combine accuracy, durability and cost efficiency and quality at every stage from raw material to final inspection. Elsewhere the business  Manufacturing, Marketing, Trading, Selling, Purchasing, Importing, Exporting etc. for Metal components.</a:t>
            </a:r>
          </a:p>
          <a:p>
            <a:r>
              <a:rPr lang="en-US" b="1" dirty="0"/>
              <a:t>The Company’s Manufacturing Unit:-</a:t>
            </a:r>
            <a:r>
              <a:rPr lang="en-US" dirty="0"/>
              <a:t> Gat No 742, Near Laxmi Park ,Gaikwad DP Road Kadamwak Wasti. Tal- Haveli, Dist. Pune, Pin- 412201</a:t>
            </a:r>
            <a:endParaRPr lang="en-IN" dirty="0"/>
          </a:p>
        </p:txBody>
      </p:sp>
      <p:sp>
        <p:nvSpPr>
          <p:cNvPr id="3" name="Title 1">
            <a:extLst>
              <a:ext uri="{FF2B5EF4-FFF2-40B4-BE49-F238E27FC236}">
                <a16:creationId xmlns:a16="http://schemas.microsoft.com/office/drawing/2014/main" id="{754FCB55-40D8-806C-ABE4-26E98D34316A}"/>
              </a:ext>
            </a:extLst>
          </p:cNvPr>
          <p:cNvSpPr txBox="1">
            <a:spLocks/>
          </p:cNvSpPr>
          <p:nvPr/>
        </p:nvSpPr>
        <p:spPr>
          <a:xfrm>
            <a:off x="482926" y="3249895"/>
            <a:ext cx="1014779" cy="379230"/>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chemeClr val="accent2">
                    <a:lumMod val="75000"/>
                  </a:schemeClr>
                </a:solidFill>
                <a:latin typeface="Agency FB" panose="020B0503020202020204" pitchFamily="34" charset="0"/>
              </a:rPr>
              <a:t>Vision</a:t>
            </a:r>
            <a:endParaRPr lang="en-IN" sz="2400" b="1" dirty="0">
              <a:solidFill>
                <a:schemeClr val="accent2">
                  <a:lumMod val="75000"/>
                </a:schemeClr>
              </a:solidFill>
              <a:latin typeface="Agency FB" panose="020B0503020202020204" pitchFamily="34" charset="0"/>
            </a:endParaRPr>
          </a:p>
        </p:txBody>
      </p:sp>
      <p:sp>
        <p:nvSpPr>
          <p:cNvPr id="9" name="TextBox 8">
            <a:extLst>
              <a:ext uri="{FF2B5EF4-FFF2-40B4-BE49-F238E27FC236}">
                <a16:creationId xmlns:a16="http://schemas.microsoft.com/office/drawing/2014/main" id="{E10C3B9D-B317-E9AB-2A50-1AC0968F140E}"/>
              </a:ext>
            </a:extLst>
          </p:cNvPr>
          <p:cNvSpPr txBox="1"/>
          <p:nvPr/>
        </p:nvSpPr>
        <p:spPr>
          <a:xfrm>
            <a:off x="775252" y="3886200"/>
            <a:ext cx="9611139" cy="646331"/>
          </a:xfrm>
          <a:prstGeom prst="rect">
            <a:avLst/>
          </a:prstGeom>
          <a:noFill/>
        </p:spPr>
        <p:txBody>
          <a:bodyPr wrap="square" rtlCol="0">
            <a:spAutoFit/>
          </a:bodyPr>
          <a:lstStyle/>
          <a:p>
            <a:r>
              <a:rPr lang="en-US" dirty="0"/>
              <a:t>To be Globally trusted partner in precision metal press components, driving innovation, reliability, and engineering excellences </a:t>
            </a:r>
            <a:endParaRPr lang="en-IN" dirty="0"/>
          </a:p>
        </p:txBody>
      </p:sp>
      <p:sp>
        <p:nvSpPr>
          <p:cNvPr id="10" name="Title 1">
            <a:extLst>
              <a:ext uri="{FF2B5EF4-FFF2-40B4-BE49-F238E27FC236}">
                <a16:creationId xmlns:a16="http://schemas.microsoft.com/office/drawing/2014/main" id="{B092E889-E684-EAB5-0F19-51D438B794BF}"/>
              </a:ext>
            </a:extLst>
          </p:cNvPr>
          <p:cNvSpPr txBox="1">
            <a:spLocks/>
          </p:cNvSpPr>
          <p:nvPr/>
        </p:nvSpPr>
        <p:spPr>
          <a:xfrm>
            <a:off x="377072" y="4578633"/>
            <a:ext cx="1120633" cy="379230"/>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300" b="1" dirty="0">
                <a:solidFill>
                  <a:schemeClr val="accent2">
                    <a:lumMod val="75000"/>
                  </a:schemeClr>
                </a:solidFill>
                <a:latin typeface="Agency FB" panose="020B0503020202020204" pitchFamily="34" charset="0"/>
              </a:rPr>
              <a:t>Mission</a:t>
            </a:r>
            <a:endParaRPr lang="en-IN" sz="2300" b="1" dirty="0">
              <a:solidFill>
                <a:schemeClr val="accent2">
                  <a:lumMod val="75000"/>
                </a:schemeClr>
              </a:solidFill>
              <a:latin typeface="Agency FB" panose="020B0503020202020204" pitchFamily="34" charset="0"/>
            </a:endParaRPr>
          </a:p>
        </p:txBody>
      </p:sp>
      <p:sp>
        <p:nvSpPr>
          <p:cNvPr id="11" name="TextBox 10">
            <a:extLst>
              <a:ext uri="{FF2B5EF4-FFF2-40B4-BE49-F238E27FC236}">
                <a16:creationId xmlns:a16="http://schemas.microsoft.com/office/drawing/2014/main" id="{955F262B-6604-C883-E7AA-4AC23B681078}"/>
              </a:ext>
            </a:extLst>
          </p:cNvPr>
          <p:cNvSpPr txBox="1"/>
          <p:nvPr/>
        </p:nvSpPr>
        <p:spPr>
          <a:xfrm>
            <a:off x="788506" y="4972876"/>
            <a:ext cx="961113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Manufacturer high-quality customized components with unwavering precision.</a:t>
            </a:r>
          </a:p>
          <a:p>
            <a:pPr marL="285750" indent="-285750">
              <a:buFont typeface="Arial" panose="020B0604020202020204" pitchFamily="34" charset="0"/>
              <a:buChar char="•"/>
            </a:pPr>
            <a:r>
              <a:rPr lang="en-US" dirty="0"/>
              <a:t>Embrace advanced technologies to ensure efficiency and cost- effectiveness.</a:t>
            </a:r>
          </a:p>
          <a:p>
            <a:pPr marL="285750" indent="-285750">
              <a:buFont typeface="Arial" panose="020B0604020202020204" pitchFamily="34" charset="0"/>
              <a:buChar char="•"/>
            </a:pPr>
            <a:r>
              <a:rPr lang="en-US" dirty="0"/>
              <a:t>Delivery on-time , consistent performance to build lasting customer partnerships.</a:t>
            </a:r>
          </a:p>
          <a:p>
            <a:pPr marL="285750" indent="-285750">
              <a:buFont typeface="Arial" panose="020B0604020202020204" pitchFamily="34" charset="0"/>
              <a:buChar char="•"/>
            </a:pPr>
            <a:r>
              <a:rPr lang="en-US" dirty="0"/>
              <a:t>Uphold sustainable practices and strive for continuous improvement.</a:t>
            </a:r>
            <a:endParaRPr lang="en-IN" dirty="0"/>
          </a:p>
        </p:txBody>
      </p:sp>
    </p:spTree>
    <p:extLst>
      <p:ext uri="{BB962C8B-B14F-4D97-AF65-F5344CB8AC3E}">
        <p14:creationId xmlns:p14="http://schemas.microsoft.com/office/powerpoint/2010/main" val="3328354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39B927-FF61-B3E8-9889-5D779DCE7D0F}"/>
              </a:ext>
            </a:extLst>
          </p:cNvPr>
          <p:cNvSpPr txBox="1"/>
          <p:nvPr/>
        </p:nvSpPr>
        <p:spPr>
          <a:xfrm>
            <a:off x="185536" y="278296"/>
            <a:ext cx="1948070" cy="363176"/>
          </a:xfrm>
          <a:prstGeom prst="rect">
            <a:avLst/>
          </a:prstGeom>
          <a:noFill/>
        </p:spPr>
        <p:txBody>
          <a:bodyPr wrap="square" rtlCol="0">
            <a:spAutoFit/>
          </a:bodyPr>
          <a:lstStyle/>
          <a:p>
            <a:pPr marL="342900" indent="-342900">
              <a:lnSpc>
                <a:spcPct val="80000"/>
              </a:lnSpc>
              <a:spcBef>
                <a:spcPct val="0"/>
              </a:spcBef>
              <a:buFont typeface="Arial" panose="020B0604020202020204" pitchFamily="34" charset="0"/>
              <a:buChar char="•"/>
            </a:pPr>
            <a:r>
              <a:rPr lang="en-US" sz="2200" b="1" dirty="0">
                <a:solidFill>
                  <a:schemeClr val="accent2">
                    <a:lumMod val="75000"/>
                  </a:schemeClr>
                </a:solidFill>
                <a:latin typeface="Agency FB" panose="020B0503020202020204" pitchFamily="34" charset="0"/>
                <a:ea typeface="+mj-ea"/>
                <a:cs typeface="+mj-cs"/>
              </a:rPr>
              <a:t>Excellence</a:t>
            </a:r>
            <a:endParaRPr lang="en-IN" sz="2200" b="1" dirty="0">
              <a:solidFill>
                <a:schemeClr val="accent2">
                  <a:lumMod val="75000"/>
                </a:schemeClr>
              </a:solidFill>
              <a:latin typeface="Agency FB" panose="020B0503020202020204" pitchFamily="34" charset="0"/>
              <a:ea typeface="+mj-ea"/>
              <a:cs typeface="+mj-cs"/>
            </a:endParaRPr>
          </a:p>
        </p:txBody>
      </p:sp>
      <p:sp>
        <p:nvSpPr>
          <p:cNvPr id="5" name="TextBox 4">
            <a:extLst>
              <a:ext uri="{FF2B5EF4-FFF2-40B4-BE49-F238E27FC236}">
                <a16:creationId xmlns:a16="http://schemas.microsoft.com/office/drawing/2014/main" id="{4BDD8533-9E4E-C14F-7304-A5B38D14F776}"/>
              </a:ext>
            </a:extLst>
          </p:cNvPr>
          <p:cNvSpPr txBox="1"/>
          <p:nvPr/>
        </p:nvSpPr>
        <p:spPr>
          <a:xfrm>
            <a:off x="377688" y="689178"/>
            <a:ext cx="10701130" cy="646331"/>
          </a:xfrm>
          <a:prstGeom prst="rect">
            <a:avLst/>
          </a:prstGeom>
          <a:noFill/>
        </p:spPr>
        <p:txBody>
          <a:bodyPr wrap="square" rtlCol="0">
            <a:spAutoFit/>
          </a:bodyPr>
          <a:lstStyle/>
          <a:p>
            <a:r>
              <a:rPr lang="en-US" dirty="0"/>
              <a:t>We deliver uncompromising quality and precision through advance technology, rigorous inspection, and a commitment to continuous improvement.</a:t>
            </a:r>
            <a:endParaRPr lang="en-IN" dirty="0"/>
          </a:p>
        </p:txBody>
      </p:sp>
      <p:sp>
        <p:nvSpPr>
          <p:cNvPr id="6" name="TextBox 5">
            <a:extLst>
              <a:ext uri="{FF2B5EF4-FFF2-40B4-BE49-F238E27FC236}">
                <a16:creationId xmlns:a16="http://schemas.microsoft.com/office/drawing/2014/main" id="{5A27404B-B77D-4897-97D9-91A893565E77}"/>
              </a:ext>
            </a:extLst>
          </p:cNvPr>
          <p:cNvSpPr txBox="1"/>
          <p:nvPr/>
        </p:nvSpPr>
        <p:spPr>
          <a:xfrm>
            <a:off x="185536" y="1413288"/>
            <a:ext cx="1948070" cy="363176"/>
          </a:xfrm>
          <a:prstGeom prst="rect">
            <a:avLst/>
          </a:prstGeom>
          <a:noFill/>
        </p:spPr>
        <p:txBody>
          <a:bodyPr wrap="square" rtlCol="0">
            <a:spAutoFit/>
          </a:bodyPr>
          <a:lstStyle/>
          <a:p>
            <a:pPr marL="342900" indent="-342900">
              <a:lnSpc>
                <a:spcPct val="80000"/>
              </a:lnSpc>
              <a:spcBef>
                <a:spcPct val="0"/>
              </a:spcBef>
              <a:buFont typeface="Arial" panose="020B0604020202020204" pitchFamily="34" charset="0"/>
              <a:buChar char="•"/>
            </a:pPr>
            <a:r>
              <a:rPr lang="en-US" sz="2200" b="1" dirty="0">
                <a:solidFill>
                  <a:schemeClr val="accent2">
                    <a:lumMod val="75000"/>
                  </a:schemeClr>
                </a:solidFill>
                <a:latin typeface="Agency FB" panose="020B0503020202020204" pitchFamily="34" charset="0"/>
                <a:ea typeface="+mj-ea"/>
                <a:cs typeface="+mj-cs"/>
              </a:rPr>
              <a:t>Innovation</a:t>
            </a:r>
            <a:endParaRPr lang="en-IN" sz="2200" b="1" dirty="0">
              <a:solidFill>
                <a:schemeClr val="accent2">
                  <a:lumMod val="75000"/>
                </a:schemeClr>
              </a:solidFill>
              <a:latin typeface="Agency FB" panose="020B0503020202020204" pitchFamily="34" charset="0"/>
              <a:ea typeface="+mj-ea"/>
              <a:cs typeface="+mj-cs"/>
            </a:endParaRPr>
          </a:p>
        </p:txBody>
      </p:sp>
      <p:sp>
        <p:nvSpPr>
          <p:cNvPr id="7" name="TextBox 6">
            <a:extLst>
              <a:ext uri="{FF2B5EF4-FFF2-40B4-BE49-F238E27FC236}">
                <a16:creationId xmlns:a16="http://schemas.microsoft.com/office/drawing/2014/main" id="{10BD6451-6B6D-77F9-EA13-C98A499A0E6D}"/>
              </a:ext>
            </a:extLst>
          </p:cNvPr>
          <p:cNvSpPr txBox="1"/>
          <p:nvPr/>
        </p:nvSpPr>
        <p:spPr>
          <a:xfrm>
            <a:off x="381003" y="1686405"/>
            <a:ext cx="10701130" cy="646331"/>
          </a:xfrm>
          <a:prstGeom prst="rect">
            <a:avLst/>
          </a:prstGeom>
          <a:noFill/>
        </p:spPr>
        <p:txBody>
          <a:bodyPr wrap="square" rtlCol="0">
            <a:spAutoFit/>
          </a:bodyPr>
          <a:lstStyle/>
          <a:p>
            <a:r>
              <a:rPr lang="en-US" dirty="0"/>
              <a:t>We embrace advanced manufacturing techniques and smart engineering solutions to create high- performance metal components that meet evolving industry needs.</a:t>
            </a:r>
            <a:endParaRPr lang="en-IN" dirty="0"/>
          </a:p>
        </p:txBody>
      </p:sp>
      <p:sp>
        <p:nvSpPr>
          <p:cNvPr id="9" name="TextBox 8">
            <a:extLst>
              <a:ext uri="{FF2B5EF4-FFF2-40B4-BE49-F238E27FC236}">
                <a16:creationId xmlns:a16="http://schemas.microsoft.com/office/drawing/2014/main" id="{6C4BA71F-07F5-C6CF-411A-318A36A794BC}"/>
              </a:ext>
            </a:extLst>
          </p:cNvPr>
          <p:cNvSpPr txBox="1"/>
          <p:nvPr/>
        </p:nvSpPr>
        <p:spPr>
          <a:xfrm>
            <a:off x="185536" y="2400412"/>
            <a:ext cx="2199857" cy="410882"/>
          </a:xfrm>
          <a:prstGeom prst="rect">
            <a:avLst/>
          </a:prstGeom>
          <a:noFill/>
        </p:spPr>
        <p:txBody>
          <a:bodyPr wrap="square" rtlCol="0">
            <a:spAutoFit/>
          </a:bodyPr>
          <a:lstStyle/>
          <a:p>
            <a:pPr marL="342900" indent="-342900">
              <a:lnSpc>
                <a:spcPct val="90000"/>
              </a:lnSpc>
              <a:spcBef>
                <a:spcPct val="0"/>
              </a:spcBef>
              <a:buFont typeface="Arial" panose="020B0604020202020204" pitchFamily="34" charset="0"/>
              <a:buChar char="•"/>
            </a:pPr>
            <a:r>
              <a:rPr lang="en-US" sz="2200" b="1" dirty="0">
                <a:solidFill>
                  <a:schemeClr val="accent2">
                    <a:lumMod val="75000"/>
                  </a:schemeClr>
                </a:solidFill>
                <a:latin typeface="Agency FB" panose="020B0503020202020204" pitchFamily="34" charset="0"/>
                <a:ea typeface="+mj-ea"/>
                <a:cs typeface="+mj-cs"/>
              </a:rPr>
              <a:t>Sustainability</a:t>
            </a:r>
            <a:endParaRPr lang="en-IN" sz="2200" b="1" dirty="0">
              <a:solidFill>
                <a:schemeClr val="accent2">
                  <a:lumMod val="75000"/>
                </a:schemeClr>
              </a:solidFill>
              <a:latin typeface="Agency FB" panose="020B0503020202020204" pitchFamily="34" charset="0"/>
              <a:ea typeface="+mj-ea"/>
              <a:cs typeface="+mj-cs"/>
            </a:endParaRPr>
          </a:p>
        </p:txBody>
      </p:sp>
      <p:sp>
        <p:nvSpPr>
          <p:cNvPr id="10" name="TextBox 9">
            <a:extLst>
              <a:ext uri="{FF2B5EF4-FFF2-40B4-BE49-F238E27FC236}">
                <a16:creationId xmlns:a16="http://schemas.microsoft.com/office/drawing/2014/main" id="{746056BD-DD2E-B3CC-3AA3-5ED6853340B2}"/>
              </a:ext>
            </a:extLst>
          </p:cNvPr>
          <p:cNvSpPr txBox="1"/>
          <p:nvPr/>
        </p:nvSpPr>
        <p:spPr>
          <a:xfrm>
            <a:off x="377688" y="2792960"/>
            <a:ext cx="10701130" cy="369332"/>
          </a:xfrm>
          <a:prstGeom prst="rect">
            <a:avLst/>
          </a:prstGeom>
          <a:noFill/>
        </p:spPr>
        <p:txBody>
          <a:bodyPr wrap="square" rtlCol="0">
            <a:spAutoFit/>
          </a:bodyPr>
          <a:lstStyle/>
          <a:p>
            <a:r>
              <a:rPr lang="en-US" dirty="0"/>
              <a:t>We Optimizing resources and reducing waste to ensure responsible and sustainable manufacturing.</a:t>
            </a:r>
            <a:endParaRPr lang="en-IN" dirty="0"/>
          </a:p>
        </p:txBody>
      </p:sp>
      <p:sp>
        <p:nvSpPr>
          <p:cNvPr id="11" name="TextBox 10">
            <a:extLst>
              <a:ext uri="{FF2B5EF4-FFF2-40B4-BE49-F238E27FC236}">
                <a16:creationId xmlns:a16="http://schemas.microsoft.com/office/drawing/2014/main" id="{15D75D4E-D57C-21EC-1C38-60F448976C6E}"/>
              </a:ext>
            </a:extLst>
          </p:cNvPr>
          <p:cNvSpPr txBox="1"/>
          <p:nvPr/>
        </p:nvSpPr>
        <p:spPr>
          <a:xfrm>
            <a:off x="185536" y="3288204"/>
            <a:ext cx="3518447" cy="410882"/>
          </a:xfrm>
          <a:prstGeom prst="rect">
            <a:avLst/>
          </a:prstGeom>
          <a:noFill/>
        </p:spPr>
        <p:txBody>
          <a:bodyPr wrap="square" rtlCol="0">
            <a:spAutoFit/>
          </a:bodyPr>
          <a:lstStyle/>
          <a:p>
            <a:pPr marL="342900" indent="-342900">
              <a:lnSpc>
                <a:spcPct val="90000"/>
              </a:lnSpc>
              <a:spcBef>
                <a:spcPct val="0"/>
              </a:spcBef>
              <a:buFont typeface="Arial" panose="020B0604020202020204" pitchFamily="34" charset="0"/>
              <a:buChar char="•"/>
            </a:pPr>
            <a:r>
              <a:rPr lang="en-US" sz="2200" b="1" dirty="0">
                <a:solidFill>
                  <a:schemeClr val="accent2">
                    <a:lumMod val="75000"/>
                  </a:schemeClr>
                </a:solidFill>
                <a:latin typeface="Agency FB" panose="020B0503020202020204" pitchFamily="34" charset="0"/>
                <a:ea typeface="+mj-ea"/>
                <a:cs typeface="+mj-cs"/>
              </a:rPr>
              <a:t>Client Satisfaction</a:t>
            </a:r>
            <a:endParaRPr lang="en-IN" sz="2200" b="1" dirty="0">
              <a:solidFill>
                <a:schemeClr val="accent2">
                  <a:lumMod val="75000"/>
                </a:schemeClr>
              </a:solidFill>
              <a:latin typeface="Agency FB" panose="020B0503020202020204" pitchFamily="34" charset="0"/>
              <a:ea typeface="+mj-ea"/>
              <a:cs typeface="+mj-cs"/>
            </a:endParaRPr>
          </a:p>
        </p:txBody>
      </p:sp>
      <p:sp>
        <p:nvSpPr>
          <p:cNvPr id="12" name="TextBox 11">
            <a:extLst>
              <a:ext uri="{FF2B5EF4-FFF2-40B4-BE49-F238E27FC236}">
                <a16:creationId xmlns:a16="http://schemas.microsoft.com/office/drawing/2014/main" id="{327BC139-3B78-BDA9-552F-B985131785AF}"/>
              </a:ext>
            </a:extLst>
          </p:cNvPr>
          <p:cNvSpPr txBox="1"/>
          <p:nvPr/>
        </p:nvSpPr>
        <p:spPr>
          <a:xfrm>
            <a:off x="381003" y="3700734"/>
            <a:ext cx="10701130" cy="646331"/>
          </a:xfrm>
          <a:prstGeom prst="rect">
            <a:avLst/>
          </a:prstGeom>
          <a:noFill/>
        </p:spPr>
        <p:txBody>
          <a:bodyPr wrap="square" rtlCol="0">
            <a:spAutoFit/>
          </a:bodyPr>
          <a:lstStyle/>
          <a:p>
            <a:r>
              <a:rPr lang="en-US" dirty="0"/>
              <a:t>We build lasting partnerships by delivering precise, reliable components on time and providing responsive, customer- focused support at every stage.</a:t>
            </a:r>
            <a:endParaRPr lang="en-IN" dirty="0"/>
          </a:p>
        </p:txBody>
      </p:sp>
      <p:sp>
        <p:nvSpPr>
          <p:cNvPr id="13" name="TextBox 12">
            <a:extLst>
              <a:ext uri="{FF2B5EF4-FFF2-40B4-BE49-F238E27FC236}">
                <a16:creationId xmlns:a16="http://schemas.microsoft.com/office/drawing/2014/main" id="{84D58FA9-9421-4282-1D28-458614D18041}"/>
              </a:ext>
            </a:extLst>
          </p:cNvPr>
          <p:cNvSpPr txBox="1"/>
          <p:nvPr/>
        </p:nvSpPr>
        <p:spPr>
          <a:xfrm>
            <a:off x="178912" y="4285430"/>
            <a:ext cx="3518447" cy="410882"/>
          </a:xfrm>
          <a:prstGeom prst="rect">
            <a:avLst/>
          </a:prstGeom>
          <a:noFill/>
        </p:spPr>
        <p:txBody>
          <a:bodyPr wrap="square" rtlCol="0">
            <a:spAutoFit/>
          </a:bodyPr>
          <a:lstStyle/>
          <a:p>
            <a:pPr marL="342900" indent="-342900">
              <a:lnSpc>
                <a:spcPct val="90000"/>
              </a:lnSpc>
              <a:spcBef>
                <a:spcPct val="0"/>
              </a:spcBef>
              <a:buFont typeface="Arial" panose="020B0604020202020204" pitchFamily="34" charset="0"/>
              <a:buChar char="•"/>
            </a:pPr>
            <a:r>
              <a:rPr lang="en-US" sz="2200" b="1" dirty="0">
                <a:solidFill>
                  <a:schemeClr val="accent2">
                    <a:lumMod val="75000"/>
                  </a:schemeClr>
                </a:solidFill>
                <a:latin typeface="Agency FB" panose="020B0503020202020204" pitchFamily="34" charset="0"/>
                <a:ea typeface="+mj-ea"/>
                <a:cs typeface="+mj-cs"/>
              </a:rPr>
              <a:t>Global Reach</a:t>
            </a:r>
            <a:endParaRPr lang="en-IN" sz="2200" b="1" dirty="0">
              <a:solidFill>
                <a:schemeClr val="accent2">
                  <a:lumMod val="75000"/>
                </a:schemeClr>
              </a:solidFill>
              <a:latin typeface="Agency FB" panose="020B0503020202020204" pitchFamily="34" charset="0"/>
              <a:ea typeface="+mj-ea"/>
              <a:cs typeface="+mj-cs"/>
            </a:endParaRPr>
          </a:p>
        </p:txBody>
      </p:sp>
      <p:sp>
        <p:nvSpPr>
          <p:cNvPr id="15" name="TextBox 14">
            <a:extLst>
              <a:ext uri="{FF2B5EF4-FFF2-40B4-BE49-F238E27FC236}">
                <a16:creationId xmlns:a16="http://schemas.microsoft.com/office/drawing/2014/main" id="{01B38B3D-93C7-44C4-B550-DA1ADB9BF277}"/>
              </a:ext>
            </a:extLst>
          </p:cNvPr>
          <p:cNvSpPr txBox="1"/>
          <p:nvPr/>
        </p:nvSpPr>
        <p:spPr>
          <a:xfrm>
            <a:off x="374379" y="4658203"/>
            <a:ext cx="10701130" cy="646331"/>
          </a:xfrm>
          <a:prstGeom prst="rect">
            <a:avLst/>
          </a:prstGeom>
          <a:noFill/>
        </p:spPr>
        <p:txBody>
          <a:bodyPr wrap="square" rtlCol="0">
            <a:spAutoFit/>
          </a:bodyPr>
          <a:lstStyle/>
          <a:p>
            <a:r>
              <a:rPr lang="en-US" dirty="0"/>
              <a:t>We serve both domestic and international markets, supplying precision metal components that meet global quality and performance standards.</a:t>
            </a:r>
            <a:endParaRPr lang="en-IN" dirty="0"/>
          </a:p>
        </p:txBody>
      </p:sp>
    </p:spTree>
    <p:extLst>
      <p:ext uri="{BB962C8B-B14F-4D97-AF65-F5344CB8AC3E}">
        <p14:creationId xmlns:p14="http://schemas.microsoft.com/office/powerpoint/2010/main" val="3105873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734EF08-DB34-769D-9F83-D5C203FA41B2}"/>
              </a:ext>
            </a:extLst>
          </p:cNvPr>
          <p:cNvSpPr txBox="1"/>
          <p:nvPr/>
        </p:nvSpPr>
        <p:spPr>
          <a:xfrm>
            <a:off x="6645896" y="3715732"/>
            <a:ext cx="5546104" cy="2837468"/>
          </a:xfrm>
          <a:prstGeom prst="rect">
            <a:avLst/>
          </a:prstGeom>
          <a:noFill/>
          <a:ln>
            <a:solidFill>
              <a:schemeClr val="tx1"/>
            </a:solidFill>
          </a:ln>
        </p:spPr>
        <p:txBody>
          <a:bodyPr wrap="square" rtlCol="0">
            <a:spAutoFit/>
          </a:bodyPr>
          <a:lstStyle/>
          <a:p>
            <a:endParaRPr lang="en-IN" dirty="0"/>
          </a:p>
        </p:txBody>
      </p:sp>
      <p:sp>
        <p:nvSpPr>
          <p:cNvPr id="13" name="TextBox 12">
            <a:extLst>
              <a:ext uri="{FF2B5EF4-FFF2-40B4-BE49-F238E27FC236}">
                <a16:creationId xmlns:a16="http://schemas.microsoft.com/office/drawing/2014/main" id="{E4091EA0-459A-E201-267D-ACF01BC41EF0}"/>
              </a:ext>
            </a:extLst>
          </p:cNvPr>
          <p:cNvSpPr txBox="1"/>
          <p:nvPr/>
        </p:nvSpPr>
        <p:spPr>
          <a:xfrm>
            <a:off x="114694" y="3715732"/>
            <a:ext cx="6397933" cy="2837468"/>
          </a:xfrm>
          <a:prstGeom prst="rect">
            <a:avLst/>
          </a:prstGeom>
          <a:noFill/>
          <a:ln>
            <a:solidFill>
              <a:schemeClr val="tx1"/>
            </a:solidFill>
          </a:ln>
        </p:spPr>
        <p:txBody>
          <a:bodyPr wrap="square" rtlCol="0">
            <a:spAutoFit/>
          </a:bodyPr>
          <a:lstStyle/>
          <a:p>
            <a:endParaRPr lang="en-IN" dirty="0"/>
          </a:p>
        </p:txBody>
      </p:sp>
      <p:sp>
        <p:nvSpPr>
          <p:cNvPr id="7" name="TextBox 6">
            <a:extLst>
              <a:ext uri="{FF2B5EF4-FFF2-40B4-BE49-F238E27FC236}">
                <a16:creationId xmlns:a16="http://schemas.microsoft.com/office/drawing/2014/main" id="{DDC6007F-336F-DCA0-8B31-454EE824EC17}"/>
              </a:ext>
            </a:extLst>
          </p:cNvPr>
          <p:cNvSpPr txBox="1"/>
          <p:nvPr/>
        </p:nvSpPr>
        <p:spPr>
          <a:xfrm>
            <a:off x="75413" y="697584"/>
            <a:ext cx="8521831" cy="2837468"/>
          </a:xfrm>
          <a:prstGeom prst="rect">
            <a:avLst/>
          </a:prstGeom>
          <a:noFill/>
          <a:ln>
            <a:solidFill>
              <a:schemeClr val="tx1"/>
            </a:solidFill>
          </a:ln>
        </p:spPr>
        <p:txBody>
          <a:bodyPr wrap="square" rtlCol="0">
            <a:spAutoFit/>
          </a:bodyPr>
          <a:lstStyle/>
          <a:p>
            <a:endParaRPr lang="en-IN" dirty="0"/>
          </a:p>
        </p:txBody>
      </p:sp>
      <p:sp>
        <p:nvSpPr>
          <p:cNvPr id="2" name="Title 1">
            <a:extLst>
              <a:ext uri="{FF2B5EF4-FFF2-40B4-BE49-F238E27FC236}">
                <a16:creationId xmlns:a16="http://schemas.microsoft.com/office/drawing/2014/main" id="{C2206E5B-2AAC-1DDF-3D1C-735DC6C4F9F0}"/>
              </a:ext>
            </a:extLst>
          </p:cNvPr>
          <p:cNvSpPr>
            <a:spLocks noGrp="1"/>
          </p:cNvSpPr>
          <p:nvPr>
            <p:ph type="title"/>
          </p:nvPr>
        </p:nvSpPr>
        <p:spPr>
          <a:xfrm>
            <a:off x="266509" y="-33157"/>
            <a:ext cx="1430315" cy="829860"/>
          </a:xfrm>
        </p:spPr>
        <p:txBody>
          <a:bodyPr>
            <a:normAutofit/>
          </a:bodyPr>
          <a:lstStyle/>
          <a:p>
            <a:r>
              <a:rPr lang="en-US" sz="2200" b="1" u="sng" dirty="0">
                <a:solidFill>
                  <a:srgbClr val="7030A0"/>
                </a:solidFill>
                <a:latin typeface="Agency FB" panose="020B0503020202020204" pitchFamily="34" charset="0"/>
              </a:rPr>
              <a:t>Machines</a:t>
            </a:r>
            <a:endParaRPr lang="en-IN" sz="2200" b="1" u="sng" dirty="0">
              <a:solidFill>
                <a:srgbClr val="7030A0"/>
              </a:solidFill>
              <a:latin typeface="Agency FB" panose="020B0503020202020204" pitchFamily="34" charset="0"/>
            </a:endParaRPr>
          </a:p>
        </p:txBody>
      </p:sp>
      <p:sp>
        <p:nvSpPr>
          <p:cNvPr id="4" name="TextBox 3">
            <a:extLst>
              <a:ext uri="{FF2B5EF4-FFF2-40B4-BE49-F238E27FC236}">
                <a16:creationId xmlns:a16="http://schemas.microsoft.com/office/drawing/2014/main" id="{0618E0BB-2414-B8C5-A20E-AB6181F5C34C}"/>
              </a:ext>
            </a:extLst>
          </p:cNvPr>
          <p:cNvSpPr txBox="1"/>
          <p:nvPr/>
        </p:nvSpPr>
        <p:spPr>
          <a:xfrm>
            <a:off x="690716" y="1342256"/>
            <a:ext cx="5279923" cy="923330"/>
          </a:xfrm>
          <a:prstGeom prst="rect">
            <a:avLst/>
          </a:prstGeom>
          <a:noFill/>
        </p:spPr>
        <p:txBody>
          <a:bodyPr wrap="square" rtlCol="0">
            <a:spAutoFit/>
          </a:bodyPr>
          <a:lstStyle/>
          <a:p>
            <a:r>
              <a:rPr lang="en-US" b="1" dirty="0"/>
              <a:t>M/C Name:- </a:t>
            </a:r>
            <a:r>
              <a:rPr lang="en-US" dirty="0"/>
              <a:t>C Type Duplex Mechanical power press. </a:t>
            </a:r>
            <a:r>
              <a:rPr lang="en-US" b="1" dirty="0"/>
              <a:t>Capacity:- </a:t>
            </a:r>
            <a:r>
              <a:rPr lang="en-US" dirty="0"/>
              <a:t>30 Ton</a:t>
            </a:r>
          </a:p>
          <a:p>
            <a:r>
              <a:rPr lang="en-US" b="1" dirty="0"/>
              <a:t>Quantity:- </a:t>
            </a:r>
            <a:r>
              <a:rPr lang="en-US" dirty="0"/>
              <a:t>2</a:t>
            </a:r>
          </a:p>
        </p:txBody>
      </p:sp>
      <p:sp>
        <p:nvSpPr>
          <p:cNvPr id="5" name="TextBox 4">
            <a:extLst>
              <a:ext uri="{FF2B5EF4-FFF2-40B4-BE49-F238E27FC236}">
                <a16:creationId xmlns:a16="http://schemas.microsoft.com/office/drawing/2014/main" id="{1218D040-5F34-7B3E-1CD4-1D582E19F081}"/>
              </a:ext>
            </a:extLst>
          </p:cNvPr>
          <p:cNvSpPr txBox="1"/>
          <p:nvPr/>
        </p:nvSpPr>
        <p:spPr>
          <a:xfrm>
            <a:off x="3450209" y="3869805"/>
            <a:ext cx="3195687" cy="1200329"/>
          </a:xfrm>
          <a:prstGeom prst="rect">
            <a:avLst/>
          </a:prstGeom>
          <a:noFill/>
        </p:spPr>
        <p:txBody>
          <a:bodyPr wrap="square" rtlCol="0">
            <a:spAutoFit/>
          </a:bodyPr>
          <a:lstStyle/>
          <a:p>
            <a:r>
              <a:rPr lang="en-US" b="1" dirty="0"/>
              <a:t>M/C Name:- </a:t>
            </a:r>
            <a:r>
              <a:rPr lang="en-US" dirty="0"/>
              <a:t>Mechanical Shearing Machine.</a:t>
            </a:r>
          </a:p>
          <a:p>
            <a:r>
              <a:rPr lang="en-US" b="1" dirty="0"/>
              <a:t>Cutting Capacity:- </a:t>
            </a:r>
            <a:r>
              <a:rPr lang="en-US" dirty="0"/>
              <a:t>1250X2mm</a:t>
            </a:r>
          </a:p>
          <a:p>
            <a:r>
              <a:rPr lang="en-US" b="1" dirty="0"/>
              <a:t>Quantity:- </a:t>
            </a:r>
            <a:r>
              <a:rPr lang="en-US" dirty="0"/>
              <a:t>1</a:t>
            </a:r>
          </a:p>
        </p:txBody>
      </p:sp>
      <p:pic>
        <p:nvPicPr>
          <p:cNvPr id="6" name="Picture 5">
            <a:extLst>
              <a:ext uri="{FF2B5EF4-FFF2-40B4-BE49-F238E27FC236}">
                <a16:creationId xmlns:a16="http://schemas.microsoft.com/office/drawing/2014/main" id="{364E319D-F2DB-B13C-F186-B16C4136F3B7}"/>
              </a:ext>
            </a:extLst>
          </p:cNvPr>
          <p:cNvPicPr>
            <a:picLocks noChangeAspect="1"/>
          </p:cNvPicPr>
          <p:nvPr/>
        </p:nvPicPr>
        <p:blipFill>
          <a:blip r:embed="rId2"/>
          <a:stretch>
            <a:fillRect/>
          </a:stretch>
        </p:blipFill>
        <p:spPr>
          <a:xfrm>
            <a:off x="6512627" y="796703"/>
            <a:ext cx="1580337" cy="2635699"/>
          </a:xfrm>
          <a:prstGeom prst="rect">
            <a:avLst/>
          </a:prstGeom>
          <a:ln>
            <a:solidFill>
              <a:schemeClr val="tx1"/>
            </a:solidFill>
          </a:ln>
        </p:spPr>
      </p:pic>
      <p:pic>
        <p:nvPicPr>
          <p:cNvPr id="10" name="Picture 9">
            <a:extLst>
              <a:ext uri="{FF2B5EF4-FFF2-40B4-BE49-F238E27FC236}">
                <a16:creationId xmlns:a16="http://schemas.microsoft.com/office/drawing/2014/main" id="{4F638BE2-318D-66F4-A789-61762CC8D954}"/>
              </a:ext>
            </a:extLst>
          </p:cNvPr>
          <p:cNvPicPr>
            <a:picLocks noChangeAspect="1"/>
          </p:cNvPicPr>
          <p:nvPr/>
        </p:nvPicPr>
        <p:blipFill>
          <a:blip r:embed="rId3"/>
          <a:stretch>
            <a:fillRect/>
          </a:stretch>
        </p:blipFill>
        <p:spPr>
          <a:xfrm>
            <a:off x="183666" y="3869805"/>
            <a:ext cx="3266544" cy="2100962"/>
          </a:xfrm>
          <a:prstGeom prst="rect">
            <a:avLst/>
          </a:prstGeom>
          <a:ln>
            <a:solidFill>
              <a:schemeClr val="tx1"/>
            </a:solidFill>
          </a:ln>
        </p:spPr>
      </p:pic>
      <p:pic>
        <p:nvPicPr>
          <p:cNvPr id="8" name="Picture 7">
            <a:extLst>
              <a:ext uri="{FF2B5EF4-FFF2-40B4-BE49-F238E27FC236}">
                <a16:creationId xmlns:a16="http://schemas.microsoft.com/office/drawing/2014/main" id="{05071F68-E4BE-B25C-6691-332CEB28266F}"/>
              </a:ext>
            </a:extLst>
          </p:cNvPr>
          <p:cNvPicPr>
            <a:picLocks noChangeAspect="1"/>
          </p:cNvPicPr>
          <p:nvPr/>
        </p:nvPicPr>
        <p:blipFill>
          <a:blip r:embed="rId4"/>
          <a:stretch>
            <a:fillRect/>
          </a:stretch>
        </p:blipFill>
        <p:spPr>
          <a:xfrm>
            <a:off x="6854641" y="3921996"/>
            <a:ext cx="2313473" cy="2139301"/>
          </a:xfrm>
          <a:prstGeom prst="rect">
            <a:avLst/>
          </a:prstGeom>
        </p:spPr>
        <p:style>
          <a:lnRef idx="2">
            <a:schemeClr val="dk1"/>
          </a:lnRef>
          <a:fillRef idx="1">
            <a:schemeClr val="lt1"/>
          </a:fillRef>
          <a:effectRef idx="0">
            <a:schemeClr val="dk1"/>
          </a:effectRef>
          <a:fontRef idx="minor">
            <a:schemeClr val="dk1"/>
          </a:fontRef>
        </p:style>
      </p:pic>
      <p:sp>
        <p:nvSpPr>
          <p:cNvPr id="11" name="TextBox 10">
            <a:extLst>
              <a:ext uri="{FF2B5EF4-FFF2-40B4-BE49-F238E27FC236}">
                <a16:creationId xmlns:a16="http://schemas.microsoft.com/office/drawing/2014/main" id="{23EF226E-2EB7-A41E-5DDC-D7407E000B62}"/>
              </a:ext>
            </a:extLst>
          </p:cNvPr>
          <p:cNvSpPr txBox="1"/>
          <p:nvPr/>
        </p:nvSpPr>
        <p:spPr>
          <a:xfrm>
            <a:off x="9215368" y="4008304"/>
            <a:ext cx="2929378" cy="92333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b="1" dirty="0"/>
              <a:t>M/C Name:- </a:t>
            </a:r>
            <a:r>
              <a:rPr lang="en-US" dirty="0"/>
              <a:t>Air compressor.</a:t>
            </a:r>
          </a:p>
          <a:p>
            <a:r>
              <a:rPr lang="en-US" b="1" dirty="0"/>
              <a:t>Cutting Capacity:- </a:t>
            </a:r>
            <a:r>
              <a:rPr lang="en-US" dirty="0"/>
              <a:t>2HP</a:t>
            </a:r>
          </a:p>
          <a:p>
            <a:r>
              <a:rPr lang="en-US" b="1" dirty="0"/>
              <a:t>Quantity:- </a:t>
            </a:r>
            <a:r>
              <a:rPr lang="en-US" dirty="0"/>
              <a:t>1</a:t>
            </a:r>
          </a:p>
        </p:txBody>
      </p:sp>
    </p:spTree>
    <p:extLst>
      <p:ext uri="{BB962C8B-B14F-4D97-AF65-F5344CB8AC3E}">
        <p14:creationId xmlns:p14="http://schemas.microsoft.com/office/powerpoint/2010/main" val="1224931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54978A-E024-293E-3C35-1D439BEE00D8}"/>
              </a:ext>
            </a:extLst>
          </p:cNvPr>
          <p:cNvPicPr>
            <a:picLocks noChangeAspect="1"/>
          </p:cNvPicPr>
          <p:nvPr/>
        </p:nvPicPr>
        <p:blipFill>
          <a:blip r:embed="rId2"/>
          <a:stretch>
            <a:fillRect/>
          </a:stretch>
        </p:blipFill>
        <p:spPr>
          <a:xfrm>
            <a:off x="897903" y="582172"/>
            <a:ext cx="1065359" cy="1776815"/>
          </a:xfrm>
          <a:prstGeom prst="rect">
            <a:avLst/>
          </a:prstGeom>
          <a:ln>
            <a:solidFill>
              <a:schemeClr val="tx1"/>
            </a:solidFill>
          </a:ln>
        </p:spPr>
      </p:pic>
      <p:sp>
        <p:nvSpPr>
          <p:cNvPr id="6" name="TextBox 5">
            <a:extLst>
              <a:ext uri="{FF2B5EF4-FFF2-40B4-BE49-F238E27FC236}">
                <a16:creationId xmlns:a16="http://schemas.microsoft.com/office/drawing/2014/main" id="{F54514B6-54FE-B6C2-584B-0DB72663EBCC}"/>
              </a:ext>
            </a:extLst>
          </p:cNvPr>
          <p:cNvSpPr txBox="1"/>
          <p:nvPr/>
        </p:nvSpPr>
        <p:spPr>
          <a:xfrm>
            <a:off x="2085680" y="1008915"/>
            <a:ext cx="5135251" cy="923330"/>
          </a:xfrm>
          <a:prstGeom prst="rect">
            <a:avLst/>
          </a:prstGeom>
          <a:noFill/>
        </p:spPr>
        <p:txBody>
          <a:bodyPr wrap="square">
            <a:spAutoFit/>
          </a:bodyPr>
          <a:lstStyle/>
          <a:p>
            <a:r>
              <a:rPr lang="en-US" b="1" dirty="0"/>
              <a:t>M/C Name:- </a:t>
            </a:r>
            <a:r>
              <a:rPr lang="en-US" dirty="0"/>
              <a:t>C Type Duplex Mechanical power press. </a:t>
            </a:r>
          </a:p>
          <a:p>
            <a:r>
              <a:rPr lang="en-US" b="1" dirty="0"/>
              <a:t>Capacity:- </a:t>
            </a:r>
            <a:r>
              <a:rPr lang="en-US" dirty="0"/>
              <a:t>30 Ton</a:t>
            </a:r>
          </a:p>
          <a:p>
            <a:r>
              <a:rPr lang="en-US" b="1" dirty="0"/>
              <a:t>Quantity:- </a:t>
            </a:r>
            <a:r>
              <a:rPr lang="en-US" dirty="0"/>
              <a:t>2</a:t>
            </a:r>
          </a:p>
        </p:txBody>
      </p:sp>
      <p:pic>
        <p:nvPicPr>
          <p:cNvPr id="7" name="Picture 6">
            <a:extLst>
              <a:ext uri="{FF2B5EF4-FFF2-40B4-BE49-F238E27FC236}">
                <a16:creationId xmlns:a16="http://schemas.microsoft.com/office/drawing/2014/main" id="{7B21BF3C-EE1D-781C-2BBD-9240F0BE7BF1}"/>
              </a:ext>
            </a:extLst>
          </p:cNvPr>
          <p:cNvPicPr>
            <a:picLocks noChangeAspect="1"/>
          </p:cNvPicPr>
          <p:nvPr/>
        </p:nvPicPr>
        <p:blipFill>
          <a:blip r:embed="rId3"/>
          <a:stretch>
            <a:fillRect/>
          </a:stretch>
        </p:blipFill>
        <p:spPr>
          <a:xfrm>
            <a:off x="2276416" y="2436930"/>
            <a:ext cx="1937365" cy="1246066"/>
          </a:xfrm>
          <a:prstGeom prst="rect">
            <a:avLst/>
          </a:prstGeom>
          <a:ln>
            <a:solidFill>
              <a:schemeClr val="tx1"/>
            </a:solidFill>
          </a:ln>
        </p:spPr>
      </p:pic>
      <p:sp>
        <p:nvSpPr>
          <p:cNvPr id="9" name="TextBox 8">
            <a:extLst>
              <a:ext uri="{FF2B5EF4-FFF2-40B4-BE49-F238E27FC236}">
                <a16:creationId xmlns:a16="http://schemas.microsoft.com/office/drawing/2014/main" id="{45BAFA9C-1BC2-E8B1-C0E0-1BAB206D5E4A}"/>
              </a:ext>
            </a:extLst>
          </p:cNvPr>
          <p:cNvSpPr txBox="1"/>
          <p:nvPr/>
        </p:nvSpPr>
        <p:spPr>
          <a:xfrm>
            <a:off x="4329261" y="2505670"/>
            <a:ext cx="6094428" cy="923330"/>
          </a:xfrm>
          <a:prstGeom prst="rect">
            <a:avLst/>
          </a:prstGeom>
          <a:noFill/>
        </p:spPr>
        <p:txBody>
          <a:bodyPr wrap="square">
            <a:spAutoFit/>
          </a:bodyPr>
          <a:lstStyle/>
          <a:p>
            <a:r>
              <a:rPr lang="en-US" b="1" dirty="0"/>
              <a:t>M/C Name:- </a:t>
            </a:r>
            <a:r>
              <a:rPr lang="en-US" dirty="0"/>
              <a:t>Mechanical Shearing Machine.</a:t>
            </a:r>
          </a:p>
          <a:p>
            <a:r>
              <a:rPr lang="en-US" b="1" dirty="0"/>
              <a:t>Cutting Capacity:- </a:t>
            </a:r>
            <a:r>
              <a:rPr lang="en-US" dirty="0"/>
              <a:t>1250X2mm</a:t>
            </a:r>
          </a:p>
          <a:p>
            <a:r>
              <a:rPr lang="en-US" b="1" dirty="0"/>
              <a:t>Quantity:- </a:t>
            </a:r>
            <a:r>
              <a:rPr lang="en-US" dirty="0"/>
              <a:t>1</a:t>
            </a:r>
          </a:p>
        </p:txBody>
      </p:sp>
      <p:pic>
        <p:nvPicPr>
          <p:cNvPr id="10" name="Picture 9">
            <a:extLst>
              <a:ext uri="{FF2B5EF4-FFF2-40B4-BE49-F238E27FC236}">
                <a16:creationId xmlns:a16="http://schemas.microsoft.com/office/drawing/2014/main" id="{348DD191-A21F-A128-26DA-CB1E671B2E0A}"/>
              </a:ext>
            </a:extLst>
          </p:cNvPr>
          <p:cNvPicPr>
            <a:picLocks noChangeAspect="1"/>
          </p:cNvPicPr>
          <p:nvPr/>
        </p:nvPicPr>
        <p:blipFill>
          <a:blip r:embed="rId4"/>
          <a:stretch>
            <a:fillRect/>
          </a:stretch>
        </p:blipFill>
        <p:spPr>
          <a:xfrm>
            <a:off x="4582782" y="3983023"/>
            <a:ext cx="2017988" cy="1866062"/>
          </a:xfrm>
          <a:prstGeom prst="rect">
            <a:avLst/>
          </a:prstGeom>
        </p:spPr>
        <p:style>
          <a:lnRef idx="2">
            <a:schemeClr val="dk1"/>
          </a:lnRef>
          <a:fillRef idx="1">
            <a:schemeClr val="lt1"/>
          </a:fillRef>
          <a:effectRef idx="0">
            <a:schemeClr val="dk1"/>
          </a:effectRef>
          <a:fontRef idx="minor">
            <a:schemeClr val="dk1"/>
          </a:fontRef>
        </p:style>
      </p:pic>
      <p:sp>
        <p:nvSpPr>
          <p:cNvPr id="11" name="TextBox 10">
            <a:extLst>
              <a:ext uri="{FF2B5EF4-FFF2-40B4-BE49-F238E27FC236}">
                <a16:creationId xmlns:a16="http://schemas.microsoft.com/office/drawing/2014/main" id="{391FD5F4-E491-F4B0-4D0D-103DDDB85714}"/>
              </a:ext>
            </a:extLst>
          </p:cNvPr>
          <p:cNvSpPr txBox="1"/>
          <p:nvPr/>
        </p:nvSpPr>
        <p:spPr>
          <a:xfrm>
            <a:off x="6981216" y="4206267"/>
            <a:ext cx="2929378" cy="92333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b="1" dirty="0"/>
              <a:t>M/C Name:- </a:t>
            </a:r>
            <a:r>
              <a:rPr lang="en-US" dirty="0"/>
              <a:t>Air compressor.</a:t>
            </a:r>
          </a:p>
          <a:p>
            <a:r>
              <a:rPr lang="en-US" b="1" dirty="0"/>
              <a:t>Cutting Capacity:- </a:t>
            </a:r>
            <a:r>
              <a:rPr lang="en-US" dirty="0"/>
              <a:t>2HP</a:t>
            </a:r>
          </a:p>
          <a:p>
            <a:r>
              <a:rPr lang="en-US" b="1" dirty="0"/>
              <a:t>Quantity:- </a:t>
            </a:r>
            <a:r>
              <a:rPr lang="en-US" dirty="0"/>
              <a:t>1</a:t>
            </a:r>
          </a:p>
        </p:txBody>
      </p:sp>
      <p:sp>
        <p:nvSpPr>
          <p:cNvPr id="12" name="TextBox 11">
            <a:extLst>
              <a:ext uri="{FF2B5EF4-FFF2-40B4-BE49-F238E27FC236}">
                <a16:creationId xmlns:a16="http://schemas.microsoft.com/office/drawing/2014/main" id="{8907F1DC-434C-C444-FE72-ECDDD9A63CC9}"/>
              </a:ext>
            </a:extLst>
          </p:cNvPr>
          <p:cNvSpPr txBox="1"/>
          <p:nvPr/>
        </p:nvSpPr>
        <p:spPr>
          <a:xfrm>
            <a:off x="197963" y="1244338"/>
            <a:ext cx="490194" cy="369332"/>
          </a:xfrm>
          <a:prstGeom prst="rect">
            <a:avLst/>
          </a:prstGeom>
          <a:noFill/>
        </p:spPr>
        <p:txBody>
          <a:bodyPr wrap="square" rtlCol="0">
            <a:spAutoFit/>
          </a:bodyPr>
          <a:lstStyle/>
          <a:p>
            <a:r>
              <a:rPr lang="en-US" dirty="0"/>
              <a:t>1.</a:t>
            </a:r>
            <a:endParaRPr lang="en-IN" dirty="0"/>
          </a:p>
        </p:txBody>
      </p:sp>
      <p:sp>
        <p:nvSpPr>
          <p:cNvPr id="13" name="TextBox 12">
            <a:extLst>
              <a:ext uri="{FF2B5EF4-FFF2-40B4-BE49-F238E27FC236}">
                <a16:creationId xmlns:a16="http://schemas.microsoft.com/office/drawing/2014/main" id="{A27CBB42-6698-E46E-80B3-56AD73FBA0B9}"/>
              </a:ext>
            </a:extLst>
          </p:cNvPr>
          <p:cNvSpPr txBox="1"/>
          <p:nvPr/>
        </p:nvSpPr>
        <p:spPr>
          <a:xfrm>
            <a:off x="1523214" y="2875297"/>
            <a:ext cx="490194" cy="369332"/>
          </a:xfrm>
          <a:prstGeom prst="rect">
            <a:avLst/>
          </a:prstGeom>
          <a:noFill/>
        </p:spPr>
        <p:txBody>
          <a:bodyPr wrap="square" rtlCol="0">
            <a:spAutoFit/>
          </a:bodyPr>
          <a:lstStyle/>
          <a:p>
            <a:r>
              <a:rPr lang="en-US" dirty="0"/>
              <a:t>2.</a:t>
            </a:r>
            <a:endParaRPr lang="en-IN" dirty="0"/>
          </a:p>
        </p:txBody>
      </p:sp>
      <p:sp>
        <p:nvSpPr>
          <p:cNvPr id="14" name="TextBox 13">
            <a:extLst>
              <a:ext uri="{FF2B5EF4-FFF2-40B4-BE49-F238E27FC236}">
                <a16:creationId xmlns:a16="http://schemas.microsoft.com/office/drawing/2014/main" id="{B1C0E5E8-A022-4205-1840-888E1994B8BD}"/>
              </a:ext>
            </a:extLst>
          </p:cNvPr>
          <p:cNvSpPr txBox="1"/>
          <p:nvPr/>
        </p:nvSpPr>
        <p:spPr>
          <a:xfrm>
            <a:off x="4084164" y="4916054"/>
            <a:ext cx="490194" cy="369332"/>
          </a:xfrm>
          <a:prstGeom prst="rect">
            <a:avLst/>
          </a:prstGeom>
          <a:noFill/>
        </p:spPr>
        <p:txBody>
          <a:bodyPr wrap="square" rtlCol="0">
            <a:spAutoFit/>
          </a:bodyPr>
          <a:lstStyle/>
          <a:p>
            <a:r>
              <a:rPr lang="en-US" dirty="0"/>
              <a:t>3.</a:t>
            </a:r>
            <a:endParaRPr lang="en-IN" dirty="0"/>
          </a:p>
        </p:txBody>
      </p:sp>
    </p:spTree>
    <p:extLst>
      <p:ext uri="{BB962C8B-B14F-4D97-AF65-F5344CB8AC3E}">
        <p14:creationId xmlns:p14="http://schemas.microsoft.com/office/powerpoint/2010/main" val="3821673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5DF5DD5-E79C-15DB-D4E0-A5F64A608EE6}"/>
              </a:ext>
            </a:extLst>
          </p:cNvPr>
          <p:cNvSpPr txBox="1"/>
          <p:nvPr/>
        </p:nvSpPr>
        <p:spPr>
          <a:xfrm>
            <a:off x="7367367" y="6205880"/>
            <a:ext cx="2104026" cy="400110"/>
          </a:xfrm>
          <a:prstGeom prst="rect">
            <a:avLst/>
          </a:prstGeom>
          <a:noFill/>
        </p:spPr>
        <p:txBody>
          <a:bodyPr wrap="square">
            <a:spAutoFit/>
          </a:bodyPr>
          <a:lstStyle/>
          <a:p>
            <a:r>
              <a:rPr lang="en-US" sz="2000" b="1" dirty="0">
                <a:solidFill>
                  <a:schemeClr val="accent2">
                    <a:lumMod val="75000"/>
                  </a:schemeClr>
                </a:solidFill>
                <a:latin typeface="Agency FB" panose="020B0503020202020204" pitchFamily="34" charset="0"/>
              </a:rPr>
              <a:t>5. Metal Press Parts</a:t>
            </a:r>
            <a:endParaRPr lang="en-IN" sz="2000" dirty="0">
              <a:solidFill>
                <a:schemeClr val="accent2">
                  <a:lumMod val="75000"/>
                </a:schemeClr>
              </a:solidFill>
            </a:endParaRPr>
          </a:p>
        </p:txBody>
      </p:sp>
      <p:pic>
        <p:nvPicPr>
          <p:cNvPr id="11" name="Picture 10">
            <a:extLst>
              <a:ext uri="{FF2B5EF4-FFF2-40B4-BE49-F238E27FC236}">
                <a16:creationId xmlns:a16="http://schemas.microsoft.com/office/drawing/2014/main" id="{2D4537E1-67CC-2C2B-14FF-677F40B3CF69}"/>
              </a:ext>
            </a:extLst>
          </p:cNvPr>
          <p:cNvPicPr>
            <a:picLocks noChangeAspect="1"/>
          </p:cNvPicPr>
          <p:nvPr/>
        </p:nvPicPr>
        <p:blipFill>
          <a:blip r:embed="rId3"/>
          <a:stretch>
            <a:fillRect/>
          </a:stretch>
        </p:blipFill>
        <p:spPr>
          <a:xfrm>
            <a:off x="546001" y="467650"/>
            <a:ext cx="2989394" cy="2201441"/>
          </a:xfrm>
          <a:prstGeom prst="rect">
            <a:avLst/>
          </a:prstGeom>
        </p:spPr>
        <p:style>
          <a:lnRef idx="2">
            <a:schemeClr val="dk1"/>
          </a:lnRef>
          <a:fillRef idx="1">
            <a:schemeClr val="lt1"/>
          </a:fillRef>
          <a:effectRef idx="0">
            <a:schemeClr val="dk1"/>
          </a:effectRef>
          <a:fontRef idx="minor">
            <a:schemeClr val="dk1"/>
          </a:fontRef>
        </p:style>
      </p:pic>
      <p:sp>
        <p:nvSpPr>
          <p:cNvPr id="12" name="TextBox 11">
            <a:extLst>
              <a:ext uri="{FF2B5EF4-FFF2-40B4-BE49-F238E27FC236}">
                <a16:creationId xmlns:a16="http://schemas.microsoft.com/office/drawing/2014/main" id="{5996D1D1-168C-4B72-780E-3C8D28A2475A}"/>
              </a:ext>
            </a:extLst>
          </p:cNvPr>
          <p:cNvSpPr txBox="1"/>
          <p:nvPr/>
        </p:nvSpPr>
        <p:spPr>
          <a:xfrm>
            <a:off x="656614" y="2926602"/>
            <a:ext cx="3164006" cy="400110"/>
          </a:xfrm>
          <a:prstGeom prst="rect">
            <a:avLst/>
          </a:prstGeom>
          <a:noFill/>
        </p:spPr>
        <p:txBody>
          <a:bodyPr wrap="square">
            <a:spAutoFit/>
          </a:bodyPr>
          <a:lstStyle/>
          <a:p>
            <a:r>
              <a:rPr lang="en-US" sz="2000" b="1" dirty="0">
                <a:solidFill>
                  <a:schemeClr val="accent2">
                    <a:lumMod val="75000"/>
                  </a:schemeClr>
                </a:solidFill>
                <a:latin typeface="Agency FB" panose="020B0503020202020204" pitchFamily="34" charset="0"/>
              </a:rPr>
              <a:t>1. Raw Material ( Metal Sheet ) </a:t>
            </a:r>
            <a:endParaRPr lang="en-IN" sz="2000" dirty="0">
              <a:solidFill>
                <a:schemeClr val="accent2">
                  <a:lumMod val="75000"/>
                </a:schemeClr>
              </a:solidFill>
            </a:endParaRPr>
          </a:p>
        </p:txBody>
      </p:sp>
      <p:pic>
        <p:nvPicPr>
          <p:cNvPr id="14" name="Picture 13">
            <a:extLst>
              <a:ext uri="{FF2B5EF4-FFF2-40B4-BE49-F238E27FC236}">
                <a16:creationId xmlns:a16="http://schemas.microsoft.com/office/drawing/2014/main" id="{8FC859A4-858C-259B-B291-B96012531495}"/>
              </a:ext>
            </a:extLst>
          </p:cNvPr>
          <p:cNvPicPr>
            <a:picLocks noChangeAspect="1"/>
          </p:cNvPicPr>
          <p:nvPr/>
        </p:nvPicPr>
        <p:blipFill>
          <a:blip r:embed="rId4"/>
          <a:stretch>
            <a:fillRect/>
          </a:stretch>
        </p:blipFill>
        <p:spPr>
          <a:xfrm>
            <a:off x="8044076" y="513481"/>
            <a:ext cx="3282904" cy="2155609"/>
          </a:xfrm>
          <a:prstGeom prst="rect">
            <a:avLst/>
          </a:prstGeom>
        </p:spPr>
        <p:style>
          <a:lnRef idx="2">
            <a:schemeClr val="dk1"/>
          </a:lnRef>
          <a:fillRef idx="1">
            <a:schemeClr val="lt1"/>
          </a:fillRef>
          <a:effectRef idx="0">
            <a:schemeClr val="dk1"/>
          </a:effectRef>
          <a:fontRef idx="minor">
            <a:schemeClr val="dk1"/>
          </a:fontRef>
        </p:style>
      </p:pic>
      <p:sp>
        <p:nvSpPr>
          <p:cNvPr id="15" name="TextBox 14">
            <a:extLst>
              <a:ext uri="{FF2B5EF4-FFF2-40B4-BE49-F238E27FC236}">
                <a16:creationId xmlns:a16="http://schemas.microsoft.com/office/drawing/2014/main" id="{C3268BDC-7C6D-2712-82C8-7A1FC5EBD694}"/>
              </a:ext>
            </a:extLst>
          </p:cNvPr>
          <p:cNvSpPr txBox="1"/>
          <p:nvPr/>
        </p:nvSpPr>
        <p:spPr>
          <a:xfrm>
            <a:off x="8371380" y="2772714"/>
            <a:ext cx="3164006" cy="707886"/>
          </a:xfrm>
          <a:prstGeom prst="rect">
            <a:avLst/>
          </a:prstGeom>
          <a:noFill/>
        </p:spPr>
        <p:txBody>
          <a:bodyPr wrap="square">
            <a:spAutoFit/>
          </a:bodyPr>
          <a:lstStyle/>
          <a:p>
            <a:pPr algn="ctr"/>
            <a:r>
              <a:rPr lang="en-US" sz="2000" b="1" dirty="0">
                <a:solidFill>
                  <a:schemeClr val="accent2">
                    <a:lumMod val="75000"/>
                  </a:schemeClr>
                </a:solidFill>
                <a:latin typeface="Agency FB" panose="020B0503020202020204" pitchFamily="34" charset="0"/>
              </a:rPr>
              <a:t>3. Operating Matel Sheet on Press Machine</a:t>
            </a:r>
            <a:endParaRPr lang="en-IN" sz="2000" dirty="0">
              <a:solidFill>
                <a:schemeClr val="accent2">
                  <a:lumMod val="75000"/>
                </a:schemeClr>
              </a:solidFill>
            </a:endParaRPr>
          </a:p>
        </p:txBody>
      </p:sp>
      <p:pic>
        <p:nvPicPr>
          <p:cNvPr id="17" name="Picture 16">
            <a:extLst>
              <a:ext uri="{FF2B5EF4-FFF2-40B4-BE49-F238E27FC236}">
                <a16:creationId xmlns:a16="http://schemas.microsoft.com/office/drawing/2014/main" id="{4F3A742D-53E4-7B1B-9367-2B2019466F8F}"/>
              </a:ext>
            </a:extLst>
          </p:cNvPr>
          <p:cNvPicPr>
            <a:picLocks noChangeAspect="1"/>
          </p:cNvPicPr>
          <p:nvPr/>
        </p:nvPicPr>
        <p:blipFill>
          <a:blip r:embed="rId5"/>
          <a:stretch>
            <a:fillRect/>
          </a:stretch>
        </p:blipFill>
        <p:spPr>
          <a:xfrm>
            <a:off x="837275" y="3584223"/>
            <a:ext cx="2388392" cy="2582046"/>
          </a:xfrm>
          <a:prstGeom prst="rect">
            <a:avLst/>
          </a:prstGeom>
        </p:spPr>
        <p:style>
          <a:lnRef idx="2">
            <a:schemeClr val="dk1"/>
          </a:lnRef>
          <a:fillRef idx="1">
            <a:schemeClr val="lt1"/>
          </a:fillRef>
          <a:effectRef idx="0">
            <a:schemeClr val="dk1"/>
          </a:effectRef>
          <a:fontRef idx="minor">
            <a:schemeClr val="dk1"/>
          </a:fontRef>
        </p:style>
      </p:pic>
      <p:sp>
        <p:nvSpPr>
          <p:cNvPr id="18" name="TextBox 17">
            <a:extLst>
              <a:ext uri="{FF2B5EF4-FFF2-40B4-BE49-F238E27FC236}">
                <a16:creationId xmlns:a16="http://schemas.microsoft.com/office/drawing/2014/main" id="{AB8F6370-5823-5726-58EB-E0E141075676}"/>
              </a:ext>
            </a:extLst>
          </p:cNvPr>
          <p:cNvSpPr txBox="1"/>
          <p:nvPr/>
        </p:nvSpPr>
        <p:spPr>
          <a:xfrm>
            <a:off x="418465" y="6145153"/>
            <a:ext cx="3164006" cy="707886"/>
          </a:xfrm>
          <a:prstGeom prst="rect">
            <a:avLst/>
          </a:prstGeom>
          <a:noFill/>
        </p:spPr>
        <p:txBody>
          <a:bodyPr wrap="square">
            <a:spAutoFit/>
          </a:bodyPr>
          <a:lstStyle/>
          <a:p>
            <a:pPr algn="ctr"/>
            <a:r>
              <a:rPr lang="en-US" sz="2000" b="1" dirty="0">
                <a:solidFill>
                  <a:schemeClr val="accent2">
                    <a:lumMod val="75000"/>
                  </a:schemeClr>
                </a:solidFill>
                <a:latin typeface="Agency FB" panose="020B0503020202020204" pitchFamily="34" charset="0"/>
              </a:rPr>
              <a:t>4. Operator Operating Press Machine</a:t>
            </a:r>
            <a:endParaRPr lang="en-IN" sz="2000" dirty="0">
              <a:solidFill>
                <a:schemeClr val="accent2">
                  <a:lumMod val="75000"/>
                </a:schemeClr>
              </a:solidFill>
            </a:endParaRPr>
          </a:p>
        </p:txBody>
      </p:sp>
      <p:pic>
        <p:nvPicPr>
          <p:cNvPr id="20" name="Picture 19">
            <a:extLst>
              <a:ext uri="{FF2B5EF4-FFF2-40B4-BE49-F238E27FC236}">
                <a16:creationId xmlns:a16="http://schemas.microsoft.com/office/drawing/2014/main" id="{70B87415-04B2-FE0E-2BDF-9FD290678505}"/>
              </a:ext>
            </a:extLst>
          </p:cNvPr>
          <p:cNvPicPr>
            <a:picLocks noChangeAspect="1"/>
          </p:cNvPicPr>
          <p:nvPr/>
        </p:nvPicPr>
        <p:blipFill>
          <a:blip r:embed="rId6"/>
          <a:stretch>
            <a:fillRect/>
          </a:stretch>
        </p:blipFill>
        <p:spPr>
          <a:xfrm>
            <a:off x="4410425" y="513482"/>
            <a:ext cx="2956942" cy="2163872"/>
          </a:xfrm>
          <a:prstGeom prst="rect">
            <a:avLst/>
          </a:prstGeom>
        </p:spPr>
        <p:style>
          <a:lnRef idx="2">
            <a:schemeClr val="dk1"/>
          </a:lnRef>
          <a:fillRef idx="1">
            <a:schemeClr val="lt1"/>
          </a:fillRef>
          <a:effectRef idx="0">
            <a:schemeClr val="dk1"/>
          </a:effectRef>
          <a:fontRef idx="minor">
            <a:schemeClr val="dk1"/>
          </a:fontRef>
        </p:style>
      </p:pic>
      <p:sp>
        <p:nvSpPr>
          <p:cNvPr id="21" name="TextBox 20">
            <a:extLst>
              <a:ext uri="{FF2B5EF4-FFF2-40B4-BE49-F238E27FC236}">
                <a16:creationId xmlns:a16="http://schemas.microsoft.com/office/drawing/2014/main" id="{430A0F57-732F-1855-1250-F2F3F817475B}"/>
              </a:ext>
            </a:extLst>
          </p:cNvPr>
          <p:cNvSpPr txBox="1"/>
          <p:nvPr/>
        </p:nvSpPr>
        <p:spPr>
          <a:xfrm>
            <a:off x="4568960" y="2772714"/>
            <a:ext cx="2750487" cy="707886"/>
          </a:xfrm>
          <a:prstGeom prst="rect">
            <a:avLst/>
          </a:prstGeom>
          <a:noFill/>
        </p:spPr>
        <p:txBody>
          <a:bodyPr wrap="square">
            <a:spAutoFit/>
          </a:bodyPr>
          <a:lstStyle/>
          <a:p>
            <a:pPr algn="ctr"/>
            <a:r>
              <a:rPr lang="en-US" sz="2000" b="1" dirty="0">
                <a:solidFill>
                  <a:schemeClr val="accent2">
                    <a:lumMod val="75000"/>
                  </a:schemeClr>
                </a:solidFill>
                <a:latin typeface="Agency FB" panose="020B0503020202020204" pitchFamily="34" charset="0"/>
              </a:rPr>
              <a:t>2. Cutting Metal Sheet by Shearing Machine</a:t>
            </a:r>
            <a:endParaRPr lang="en-IN" sz="2000" dirty="0">
              <a:solidFill>
                <a:schemeClr val="accent2">
                  <a:lumMod val="75000"/>
                </a:schemeClr>
              </a:solidFill>
            </a:endParaRPr>
          </a:p>
        </p:txBody>
      </p:sp>
      <p:sp>
        <p:nvSpPr>
          <p:cNvPr id="24" name="TextBox 23">
            <a:extLst>
              <a:ext uri="{FF2B5EF4-FFF2-40B4-BE49-F238E27FC236}">
                <a16:creationId xmlns:a16="http://schemas.microsoft.com/office/drawing/2014/main" id="{8E33011E-765E-F588-DE7A-8F699C7FD37B}"/>
              </a:ext>
            </a:extLst>
          </p:cNvPr>
          <p:cNvSpPr txBox="1"/>
          <p:nvPr/>
        </p:nvSpPr>
        <p:spPr>
          <a:xfrm>
            <a:off x="194031" y="0"/>
            <a:ext cx="1436806" cy="461665"/>
          </a:xfrm>
          <a:prstGeom prst="rect">
            <a:avLst/>
          </a:prstGeom>
          <a:noFill/>
        </p:spPr>
        <p:txBody>
          <a:bodyPr wrap="square">
            <a:spAutoFit/>
          </a:bodyPr>
          <a:lstStyle/>
          <a:p>
            <a:r>
              <a:rPr lang="en-US" sz="2400" b="1" u="sng" dirty="0">
                <a:solidFill>
                  <a:srgbClr val="7030A0"/>
                </a:solidFill>
                <a:latin typeface="Agency FB" panose="020B0503020202020204" pitchFamily="34" charset="0"/>
              </a:rPr>
              <a:t>Process</a:t>
            </a:r>
            <a:endParaRPr lang="en-IN" sz="2400" dirty="0"/>
          </a:p>
        </p:txBody>
      </p:sp>
      <p:grpSp>
        <p:nvGrpSpPr>
          <p:cNvPr id="7" name="Group 6">
            <a:extLst>
              <a:ext uri="{FF2B5EF4-FFF2-40B4-BE49-F238E27FC236}">
                <a16:creationId xmlns:a16="http://schemas.microsoft.com/office/drawing/2014/main" id="{FA4D5D15-D31C-363A-54E9-9338C8A1E192}"/>
              </a:ext>
            </a:extLst>
          </p:cNvPr>
          <p:cNvGrpSpPr/>
          <p:nvPr/>
        </p:nvGrpSpPr>
        <p:grpSpPr>
          <a:xfrm>
            <a:off x="4344437" y="3598982"/>
            <a:ext cx="7704791" cy="2520000"/>
            <a:chOff x="4344437" y="3598982"/>
            <a:chExt cx="7704791" cy="2520000"/>
          </a:xfrm>
        </p:grpSpPr>
        <p:pic>
          <p:nvPicPr>
            <p:cNvPr id="5" name="Picture 4">
              <a:extLst>
                <a:ext uri="{FF2B5EF4-FFF2-40B4-BE49-F238E27FC236}">
                  <a16:creationId xmlns:a16="http://schemas.microsoft.com/office/drawing/2014/main" id="{E66CC9C8-5C14-31D3-EE75-C4B4F70986AF}"/>
                </a:ext>
              </a:extLst>
            </p:cNvPr>
            <p:cNvPicPr>
              <a:picLocks noChangeAspect="1"/>
            </p:cNvPicPr>
            <p:nvPr/>
          </p:nvPicPr>
          <p:blipFill>
            <a:blip r:embed="rId7"/>
            <a:stretch>
              <a:fillRect/>
            </a:stretch>
          </p:blipFill>
          <p:spPr>
            <a:xfrm>
              <a:off x="4344437" y="3598982"/>
              <a:ext cx="2750487" cy="2520000"/>
            </a:xfrm>
            <a:prstGeom prst="rect">
              <a:avLst/>
            </a:prstGeom>
            <a:ln/>
          </p:spPr>
          <p:style>
            <a:lnRef idx="2">
              <a:schemeClr val="dk1"/>
            </a:lnRef>
            <a:fillRef idx="1">
              <a:schemeClr val="lt1"/>
            </a:fillRef>
            <a:effectRef idx="0">
              <a:schemeClr val="dk1"/>
            </a:effectRef>
            <a:fontRef idx="minor">
              <a:schemeClr val="dk1"/>
            </a:fontRef>
          </p:style>
        </p:pic>
        <p:pic>
          <p:nvPicPr>
            <p:cNvPr id="3" name="Picture 2">
              <a:extLst>
                <a:ext uri="{FF2B5EF4-FFF2-40B4-BE49-F238E27FC236}">
                  <a16:creationId xmlns:a16="http://schemas.microsoft.com/office/drawing/2014/main" id="{B8AF519F-6FB6-011A-33B0-75B6D240D80F}"/>
                </a:ext>
              </a:extLst>
            </p:cNvPr>
            <p:cNvPicPr>
              <a:picLocks noChangeAspect="1"/>
            </p:cNvPicPr>
            <p:nvPr/>
          </p:nvPicPr>
          <p:blipFill>
            <a:blip r:embed="rId8"/>
            <a:stretch>
              <a:fillRect/>
            </a:stretch>
          </p:blipFill>
          <p:spPr>
            <a:xfrm>
              <a:off x="7115067" y="3598982"/>
              <a:ext cx="2608625" cy="2520000"/>
            </a:xfrm>
            <a:prstGeom prst="rect">
              <a:avLst/>
            </a:prstGeom>
          </p:spPr>
          <p:style>
            <a:lnRef idx="2">
              <a:schemeClr val="dk1"/>
            </a:lnRef>
            <a:fillRef idx="1">
              <a:schemeClr val="lt1"/>
            </a:fillRef>
            <a:effectRef idx="0">
              <a:schemeClr val="dk1"/>
            </a:effectRef>
            <a:fontRef idx="minor">
              <a:schemeClr val="dk1"/>
            </a:fontRef>
          </p:style>
        </p:pic>
        <p:pic>
          <p:nvPicPr>
            <p:cNvPr id="6" name="Picture 5">
              <a:extLst>
                <a:ext uri="{FF2B5EF4-FFF2-40B4-BE49-F238E27FC236}">
                  <a16:creationId xmlns:a16="http://schemas.microsoft.com/office/drawing/2014/main" id="{317284BF-95D6-89E7-9656-7C2A5EA6CF04}"/>
                </a:ext>
              </a:extLst>
            </p:cNvPr>
            <p:cNvPicPr>
              <a:picLocks noChangeAspect="1"/>
            </p:cNvPicPr>
            <p:nvPr/>
          </p:nvPicPr>
          <p:blipFill>
            <a:blip r:embed="rId9"/>
            <a:stretch>
              <a:fillRect/>
            </a:stretch>
          </p:blipFill>
          <p:spPr>
            <a:xfrm>
              <a:off x="9743835" y="3598982"/>
              <a:ext cx="2305393" cy="2520000"/>
            </a:xfrm>
            <a:prstGeom prst="rect">
              <a:avLst/>
            </a:prstGeom>
          </p:spPr>
          <p:style>
            <a:lnRef idx="2">
              <a:schemeClr val="dk1"/>
            </a:lnRef>
            <a:fillRef idx="1">
              <a:schemeClr val="lt1"/>
            </a:fillRef>
            <a:effectRef idx="0">
              <a:schemeClr val="dk1"/>
            </a:effectRef>
            <a:fontRef idx="minor">
              <a:schemeClr val="dk1"/>
            </a:fontRef>
          </p:style>
        </p:pic>
      </p:grpSp>
    </p:spTree>
    <p:extLst>
      <p:ext uri="{BB962C8B-B14F-4D97-AF65-F5344CB8AC3E}">
        <p14:creationId xmlns:p14="http://schemas.microsoft.com/office/powerpoint/2010/main" val="1036329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CE107-C177-6D82-E4BF-C7C15BED0D9E}"/>
              </a:ext>
            </a:extLst>
          </p:cNvPr>
          <p:cNvSpPr>
            <a:spLocks noGrp="1"/>
          </p:cNvSpPr>
          <p:nvPr>
            <p:ph type="title"/>
          </p:nvPr>
        </p:nvSpPr>
        <p:spPr>
          <a:xfrm>
            <a:off x="821168" y="-313048"/>
            <a:ext cx="1829586" cy="1077178"/>
          </a:xfrm>
        </p:spPr>
        <p:txBody>
          <a:bodyPr/>
          <a:lstStyle/>
          <a:p>
            <a:r>
              <a:rPr lang="en-US" sz="2200" b="1" u="sng" dirty="0">
                <a:solidFill>
                  <a:srgbClr val="7030A0"/>
                </a:solidFill>
                <a:latin typeface="Agency FB" panose="020B0503020202020204" pitchFamily="34" charset="0"/>
              </a:rPr>
              <a:t>Our Products</a:t>
            </a:r>
            <a:endParaRPr lang="en-IN" sz="2200" b="1" u="sng" dirty="0">
              <a:solidFill>
                <a:srgbClr val="7030A0"/>
              </a:solidFill>
              <a:latin typeface="Agency FB" panose="020B0503020202020204" pitchFamily="34" charset="0"/>
            </a:endParaRPr>
          </a:p>
        </p:txBody>
      </p:sp>
      <p:sp>
        <p:nvSpPr>
          <p:cNvPr id="4" name="TextBox 3">
            <a:extLst>
              <a:ext uri="{FF2B5EF4-FFF2-40B4-BE49-F238E27FC236}">
                <a16:creationId xmlns:a16="http://schemas.microsoft.com/office/drawing/2014/main" id="{CEA97D72-4C3F-E0CC-EF92-9B40279ADF39}"/>
              </a:ext>
            </a:extLst>
          </p:cNvPr>
          <p:cNvSpPr txBox="1"/>
          <p:nvPr/>
        </p:nvSpPr>
        <p:spPr>
          <a:xfrm>
            <a:off x="737366" y="594241"/>
            <a:ext cx="3797364" cy="369332"/>
          </a:xfrm>
          <a:prstGeom prst="rect">
            <a:avLst/>
          </a:prstGeom>
          <a:solidFill>
            <a:schemeClr val="accent2">
              <a:lumMod val="60000"/>
              <a:lumOff val="40000"/>
            </a:schemeClr>
          </a:solidFill>
          <a:ln>
            <a:solidFill>
              <a:schemeClr val="tx1"/>
            </a:solidFill>
          </a:ln>
        </p:spPr>
        <p:txBody>
          <a:bodyPr wrap="square" rtlCol="0">
            <a:spAutoFit/>
          </a:bodyPr>
          <a:lstStyle/>
          <a:p>
            <a:r>
              <a:rPr lang="en-US" b="1" dirty="0"/>
              <a:t>Metal Cam lock for Cold Room Panel</a:t>
            </a:r>
            <a:endParaRPr lang="en-IN" b="1" dirty="0"/>
          </a:p>
        </p:txBody>
      </p:sp>
      <p:sp>
        <p:nvSpPr>
          <p:cNvPr id="5" name="TextBox 4">
            <a:extLst>
              <a:ext uri="{FF2B5EF4-FFF2-40B4-BE49-F238E27FC236}">
                <a16:creationId xmlns:a16="http://schemas.microsoft.com/office/drawing/2014/main" id="{019D7FEC-6D08-81A6-88A3-78B91D7AD20A}"/>
              </a:ext>
            </a:extLst>
          </p:cNvPr>
          <p:cNvSpPr txBox="1"/>
          <p:nvPr/>
        </p:nvSpPr>
        <p:spPr>
          <a:xfrm>
            <a:off x="6429079" y="1432873"/>
            <a:ext cx="4012675" cy="1200329"/>
          </a:xfrm>
          <a:prstGeom prst="rect">
            <a:avLst/>
          </a:prstGeom>
          <a:solidFill>
            <a:schemeClr val="bg2">
              <a:lumMod val="90000"/>
            </a:schemeClr>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High Quality, Strength and Durability.</a:t>
            </a:r>
          </a:p>
          <a:p>
            <a:pPr marL="285750" indent="-285750">
              <a:buFont typeface="Wingdings" panose="05000000000000000000" pitchFamily="2" charset="2"/>
              <a:buChar char="Ø"/>
            </a:pPr>
            <a:r>
              <a:rPr lang="en-US" dirty="0"/>
              <a:t>Design for Easy Installation.</a:t>
            </a:r>
          </a:p>
          <a:p>
            <a:pPr marL="285750" indent="-285750">
              <a:buFont typeface="Wingdings" panose="05000000000000000000" pitchFamily="2" charset="2"/>
              <a:buChar char="Ø"/>
            </a:pPr>
            <a:r>
              <a:rPr lang="en-US" dirty="0"/>
              <a:t>Excellence Insulation Performance.</a:t>
            </a:r>
          </a:p>
          <a:p>
            <a:pPr marL="285750" indent="-285750">
              <a:buFont typeface="Wingdings" panose="05000000000000000000" pitchFamily="2" charset="2"/>
              <a:buChar char="Ø"/>
            </a:pPr>
            <a:r>
              <a:rPr lang="en-US" dirty="0"/>
              <a:t>Precise Locking Mechanism.</a:t>
            </a:r>
          </a:p>
        </p:txBody>
      </p:sp>
      <p:grpSp>
        <p:nvGrpSpPr>
          <p:cNvPr id="6" name="Group 5">
            <a:extLst>
              <a:ext uri="{FF2B5EF4-FFF2-40B4-BE49-F238E27FC236}">
                <a16:creationId xmlns:a16="http://schemas.microsoft.com/office/drawing/2014/main" id="{8B5D237A-D63E-9F41-BA0E-5BB8FFDAC3B7}"/>
              </a:ext>
            </a:extLst>
          </p:cNvPr>
          <p:cNvGrpSpPr/>
          <p:nvPr/>
        </p:nvGrpSpPr>
        <p:grpSpPr>
          <a:xfrm>
            <a:off x="3073968" y="3313990"/>
            <a:ext cx="3405813" cy="3395738"/>
            <a:chOff x="3073968" y="3313990"/>
            <a:chExt cx="3405813" cy="3395738"/>
          </a:xfrm>
        </p:grpSpPr>
        <p:pic>
          <p:nvPicPr>
            <p:cNvPr id="22" name="Picture 21">
              <a:extLst>
                <a:ext uri="{FF2B5EF4-FFF2-40B4-BE49-F238E27FC236}">
                  <a16:creationId xmlns:a16="http://schemas.microsoft.com/office/drawing/2014/main" id="{3BDB8114-9BEE-0442-6F45-04EDDCE6A637}"/>
                </a:ext>
              </a:extLst>
            </p:cNvPr>
            <p:cNvPicPr>
              <a:picLocks noChangeAspect="1"/>
            </p:cNvPicPr>
            <p:nvPr/>
          </p:nvPicPr>
          <p:blipFill>
            <a:blip r:embed="rId2"/>
            <a:stretch>
              <a:fillRect/>
            </a:stretch>
          </p:blipFill>
          <p:spPr>
            <a:xfrm>
              <a:off x="4037107" y="3313990"/>
              <a:ext cx="1019898" cy="1124122"/>
            </a:xfrm>
            <a:prstGeom prst="rect">
              <a:avLst/>
            </a:prstGeom>
            <a:ln>
              <a:solidFill>
                <a:schemeClr val="tx1"/>
              </a:solidFill>
            </a:ln>
          </p:spPr>
        </p:pic>
        <p:sp>
          <p:nvSpPr>
            <p:cNvPr id="28" name="TextBox 27">
              <a:extLst>
                <a:ext uri="{FF2B5EF4-FFF2-40B4-BE49-F238E27FC236}">
                  <a16:creationId xmlns:a16="http://schemas.microsoft.com/office/drawing/2014/main" id="{3C02D50C-7A4C-80FB-4A39-E74D4D044055}"/>
                </a:ext>
              </a:extLst>
            </p:cNvPr>
            <p:cNvSpPr txBox="1"/>
            <p:nvPr/>
          </p:nvSpPr>
          <p:spPr>
            <a:xfrm>
              <a:off x="3499129" y="4455910"/>
              <a:ext cx="2102178" cy="369332"/>
            </a:xfrm>
            <a:prstGeom prst="rect">
              <a:avLst/>
            </a:prstGeom>
            <a:noFill/>
          </p:spPr>
          <p:txBody>
            <a:bodyPr wrap="square" rtlCol="0">
              <a:spAutoFit/>
            </a:bodyPr>
            <a:lstStyle/>
            <a:p>
              <a:r>
                <a:rPr lang="en-US" b="1" dirty="0"/>
                <a:t>Easy to Installation</a:t>
              </a:r>
              <a:endParaRPr lang="en-IN" b="1" dirty="0"/>
            </a:p>
          </p:txBody>
        </p:sp>
        <p:sp>
          <p:nvSpPr>
            <p:cNvPr id="29" name="TextBox 28">
              <a:extLst>
                <a:ext uri="{FF2B5EF4-FFF2-40B4-BE49-F238E27FC236}">
                  <a16:creationId xmlns:a16="http://schemas.microsoft.com/office/drawing/2014/main" id="{8B539B6C-1704-0058-D82D-75FAA21237E7}"/>
                </a:ext>
              </a:extLst>
            </p:cNvPr>
            <p:cNvSpPr txBox="1"/>
            <p:nvPr/>
          </p:nvSpPr>
          <p:spPr>
            <a:xfrm>
              <a:off x="3073968" y="4955402"/>
              <a:ext cx="3405813" cy="1754326"/>
            </a:xfrm>
            <a:prstGeom prst="rect">
              <a:avLst/>
            </a:prstGeom>
            <a:noFill/>
          </p:spPr>
          <p:txBody>
            <a:bodyPr wrap="square" rtlCol="0">
              <a:spAutoFit/>
            </a:bodyPr>
            <a:lstStyle/>
            <a:p>
              <a:pPr algn="ctr"/>
              <a:r>
                <a:rPr lang="en-US" dirty="0"/>
                <a:t>Microtech’s Camlock Design for the easy Installation and Disassembly and made with quality material</a:t>
              </a:r>
            </a:p>
            <a:p>
              <a:pPr algn="ctr"/>
              <a:r>
                <a:rPr lang="en-US" dirty="0"/>
                <a:t>And cost-effective, Saving time during setup</a:t>
              </a:r>
              <a:endParaRPr lang="en-IN" dirty="0"/>
            </a:p>
          </p:txBody>
        </p:sp>
      </p:grpSp>
      <p:grpSp>
        <p:nvGrpSpPr>
          <p:cNvPr id="7" name="Group 6">
            <a:extLst>
              <a:ext uri="{FF2B5EF4-FFF2-40B4-BE49-F238E27FC236}">
                <a16:creationId xmlns:a16="http://schemas.microsoft.com/office/drawing/2014/main" id="{FB117302-98F5-16A0-D75B-A3E0FA085A13}"/>
              </a:ext>
            </a:extLst>
          </p:cNvPr>
          <p:cNvGrpSpPr/>
          <p:nvPr/>
        </p:nvGrpSpPr>
        <p:grpSpPr>
          <a:xfrm>
            <a:off x="6316012" y="3288836"/>
            <a:ext cx="3016445" cy="3429232"/>
            <a:chOff x="6316012" y="3288836"/>
            <a:chExt cx="3016445" cy="3429232"/>
          </a:xfrm>
        </p:grpSpPr>
        <p:pic>
          <p:nvPicPr>
            <p:cNvPr id="11" name="Picture 10">
              <a:extLst>
                <a:ext uri="{FF2B5EF4-FFF2-40B4-BE49-F238E27FC236}">
                  <a16:creationId xmlns:a16="http://schemas.microsoft.com/office/drawing/2014/main" id="{51420D74-1F36-9038-2E60-F42E58A92470}"/>
                </a:ext>
              </a:extLst>
            </p:cNvPr>
            <p:cNvPicPr>
              <a:picLocks noChangeAspect="1"/>
            </p:cNvPicPr>
            <p:nvPr/>
          </p:nvPicPr>
          <p:blipFill>
            <a:blip r:embed="rId3"/>
            <a:stretch>
              <a:fillRect/>
            </a:stretch>
          </p:blipFill>
          <p:spPr>
            <a:xfrm>
              <a:off x="6995756" y="3288836"/>
              <a:ext cx="1196137" cy="1029403"/>
            </a:xfrm>
            <a:prstGeom prst="rect">
              <a:avLst/>
            </a:prstGeom>
            <a:ln>
              <a:solidFill>
                <a:schemeClr val="tx1"/>
              </a:solidFill>
            </a:ln>
          </p:spPr>
        </p:pic>
        <p:sp>
          <p:nvSpPr>
            <p:cNvPr id="17" name="TextBox 16">
              <a:extLst>
                <a:ext uri="{FF2B5EF4-FFF2-40B4-BE49-F238E27FC236}">
                  <a16:creationId xmlns:a16="http://schemas.microsoft.com/office/drawing/2014/main" id="{B76E86D5-1770-7C96-623F-78518698012C}"/>
                </a:ext>
              </a:extLst>
            </p:cNvPr>
            <p:cNvSpPr txBox="1"/>
            <p:nvPr/>
          </p:nvSpPr>
          <p:spPr>
            <a:xfrm>
              <a:off x="6316012" y="4963742"/>
              <a:ext cx="3016445" cy="1754326"/>
            </a:xfrm>
            <a:prstGeom prst="rect">
              <a:avLst/>
            </a:prstGeom>
            <a:noFill/>
          </p:spPr>
          <p:txBody>
            <a:bodyPr wrap="square" rtlCol="0">
              <a:spAutoFit/>
            </a:bodyPr>
            <a:lstStyle/>
            <a:p>
              <a:pPr algn="ctr"/>
              <a:r>
                <a:rPr lang="en-US" dirty="0"/>
                <a:t>Microtech’s Camlock ensures airtight panel locking to prevent thermal leakage and Maintains uniform temperature inside cold rooms, reducing cooling costs.</a:t>
              </a:r>
              <a:endParaRPr lang="en-IN" dirty="0"/>
            </a:p>
          </p:txBody>
        </p:sp>
        <p:sp>
          <p:nvSpPr>
            <p:cNvPr id="31" name="TextBox 30">
              <a:extLst>
                <a:ext uri="{FF2B5EF4-FFF2-40B4-BE49-F238E27FC236}">
                  <a16:creationId xmlns:a16="http://schemas.microsoft.com/office/drawing/2014/main" id="{BC8CF226-F720-EE9D-0695-F0A07AF9D527}"/>
                </a:ext>
              </a:extLst>
            </p:cNvPr>
            <p:cNvSpPr txBox="1"/>
            <p:nvPr/>
          </p:nvSpPr>
          <p:spPr>
            <a:xfrm>
              <a:off x="6489613" y="4317411"/>
              <a:ext cx="2406625" cy="646331"/>
            </a:xfrm>
            <a:prstGeom prst="rect">
              <a:avLst/>
            </a:prstGeom>
            <a:noFill/>
          </p:spPr>
          <p:txBody>
            <a:bodyPr wrap="square">
              <a:spAutoFit/>
            </a:bodyPr>
            <a:lstStyle/>
            <a:p>
              <a:pPr algn="ctr"/>
              <a:r>
                <a:rPr lang="en-US" b="1" dirty="0"/>
                <a:t>Excellence Insulation Performance</a:t>
              </a:r>
              <a:endParaRPr lang="en-IN" b="1" dirty="0"/>
            </a:p>
          </p:txBody>
        </p:sp>
      </p:grpSp>
      <p:grpSp>
        <p:nvGrpSpPr>
          <p:cNvPr id="8" name="Group 7">
            <a:extLst>
              <a:ext uri="{FF2B5EF4-FFF2-40B4-BE49-F238E27FC236}">
                <a16:creationId xmlns:a16="http://schemas.microsoft.com/office/drawing/2014/main" id="{501B372C-2C40-46C3-BA76-4F05679134D8}"/>
              </a:ext>
            </a:extLst>
          </p:cNvPr>
          <p:cNvGrpSpPr/>
          <p:nvPr/>
        </p:nvGrpSpPr>
        <p:grpSpPr>
          <a:xfrm>
            <a:off x="9278608" y="3171699"/>
            <a:ext cx="2869151" cy="3474119"/>
            <a:chOff x="9278608" y="3171699"/>
            <a:chExt cx="2869151" cy="3474119"/>
          </a:xfrm>
        </p:grpSpPr>
        <p:pic>
          <p:nvPicPr>
            <p:cNvPr id="15" name="Picture 14">
              <a:extLst>
                <a:ext uri="{FF2B5EF4-FFF2-40B4-BE49-F238E27FC236}">
                  <a16:creationId xmlns:a16="http://schemas.microsoft.com/office/drawing/2014/main" id="{C811BBB4-6B85-9368-2353-98BFD81E4099}"/>
                </a:ext>
              </a:extLst>
            </p:cNvPr>
            <p:cNvPicPr>
              <a:picLocks noChangeAspect="1"/>
            </p:cNvPicPr>
            <p:nvPr/>
          </p:nvPicPr>
          <p:blipFill>
            <a:blip r:embed="rId4"/>
            <a:stretch>
              <a:fillRect/>
            </a:stretch>
          </p:blipFill>
          <p:spPr>
            <a:xfrm>
              <a:off x="10130645" y="3171699"/>
              <a:ext cx="1039778" cy="1087040"/>
            </a:xfrm>
            <a:prstGeom prst="rect">
              <a:avLst/>
            </a:prstGeom>
            <a:ln>
              <a:solidFill>
                <a:schemeClr val="tx1"/>
              </a:solidFill>
            </a:ln>
          </p:spPr>
        </p:pic>
        <p:sp>
          <p:nvSpPr>
            <p:cNvPr id="33" name="TextBox 32">
              <a:extLst>
                <a:ext uri="{FF2B5EF4-FFF2-40B4-BE49-F238E27FC236}">
                  <a16:creationId xmlns:a16="http://schemas.microsoft.com/office/drawing/2014/main" id="{69818FBB-D538-5977-3533-84EC545BD96C}"/>
                </a:ext>
              </a:extLst>
            </p:cNvPr>
            <p:cNvSpPr txBox="1"/>
            <p:nvPr/>
          </p:nvSpPr>
          <p:spPr>
            <a:xfrm>
              <a:off x="9545711" y="4272595"/>
              <a:ext cx="2406625" cy="646331"/>
            </a:xfrm>
            <a:prstGeom prst="rect">
              <a:avLst/>
            </a:prstGeom>
            <a:noFill/>
          </p:spPr>
          <p:txBody>
            <a:bodyPr wrap="square">
              <a:spAutoFit/>
            </a:bodyPr>
            <a:lstStyle/>
            <a:p>
              <a:pPr algn="ctr"/>
              <a:r>
                <a:rPr lang="en-US" b="1" dirty="0"/>
                <a:t>Meets the required standard</a:t>
              </a:r>
              <a:endParaRPr lang="en-IN" b="1" dirty="0"/>
            </a:p>
          </p:txBody>
        </p:sp>
        <p:sp>
          <p:nvSpPr>
            <p:cNvPr id="34" name="TextBox 33">
              <a:extLst>
                <a:ext uri="{FF2B5EF4-FFF2-40B4-BE49-F238E27FC236}">
                  <a16:creationId xmlns:a16="http://schemas.microsoft.com/office/drawing/2014/main" id="{450EAB30-EE52-7A60-7080-AA45421136C4}"/>
                </a:ext>
              </a:extLst>
            </p:cNvPr>
            <p:cNvSpPr txBox="1"/>
            <p:nvPr/>
          </p:nvSpPr>
          <p:spPr>
            <a:xfrm>
              <a:off x="9278608" y="4891492"/>
              <a:ext cx="2869151" cy="1754326"/>
            </a:xfrm>
            <a:prstGeom prst="rect">
              <a:avLst/>
            </a:prstGeom>
            <a:noFill/>
          </p:spPr>
          <p:txBody>
            <a:bodyPr wrap="square" rtlCol="0">
              <a:spAutoFit/>
            </a:bodyPr>
            <a:lstStyle/>
            <a:p>
              <a:pPr algn="ctr"/>
              <a:r>
                <a:rPr lang="en-US" dirty="0"/>
                <a:t>Microtech’s ensures each camlock undergoes strict quality check for consistent result. Designed to fulfill specifications for cold room panel applications.</a:t>
              </a:r>
              <a:endParaRPr lang="en-IN" dirty="0"/>
            </a:p>
          </p:txBody>
        </p:sp>
      </p:grpSp>
      <p:pic>
        <p:nvPicPr>
          <p:cNvPr id="36" name="Picture 35">
            <a:extLst>
              <a:ext uri="{FF2B5EF4-FFF2-40B4-BE49-F238E27FC236}">
                <a16:creationId xmlns:a16="http://schemas.microsoft.com/office/drawing/2014/main" id="{C8814FBD-ED7C-5D9B-C1CF-9228F4A812BE}"/>
              </a:ext>
            </a:extLst>
          </p:cNvPr>
          <p:cNvPicPr>
            <a:picLocks noChangeAspect="1"/>
          </p:cNvPicPr>
          <p:nvPr/>
        </p:nvPicPr>
        <p:blipFill>
          <a:blip r:embed="rId5"/>
          <a:stretch>
            <a:fillRect/>
          </a:stretch>
        </p:blipFill>
        <p:spPr>
          <a:xfrm>
            <a:off x="770807" y="1115367"/>
            <a:ext cx="2885501" cy="2053403"/>
          </a:xfrm>
          <a:prstGeom prst="rect">
            <a:avLst/>
          </a:prstGeom>
          <a:ln w="19050">
            <a:solidFill>
              <a:schemeClr val="tx1"/>
            </a:solidFill>
          </a:ln>
        </p:spPr>
      </p:pic>
      <p:grpSp>
        <p:nvGrpSpPr>
          <p:cNvPr id="3" name="Group 2">
            <a:extLst>
              <a:ext uri="{FF2B5EF4-FFF2-40B4-BE49-F238E27FC236}">
                <a16:creationId xmlns:a16="http://schemas.microsoft.com/office/drawing/2014/main" id="{91A28F8D-7C62-F587-A716-A61129532762}"/>
              </a:ext>
            </a:extLst>
          </p:cNvPr>
          <p:cNvGrpSpPr/>
          <p:nvPr/>
        </p:nvGrpSpPr>
        <p:grpSpPr>
          <a:xfrm>
            <a:off x="56562" y="3289285"/>
            <a:ext cx="3116136" cy="3413463"/>
            <a:chOff x="-125907" y="3289285"/>
            <a:chExt cx="3242044" cy="3413463"/>
          </a:xfrm>
        </p:grpSpPr>
        <p:sp>
          <p:nvSpPr>
            <p:cNvPr id="26" name="TextBox 25">
              <a:extLst>
                <a:ext uri="{FF2B5EF4-FFF2-40B4-BE49-F238E27FC236}">
                  <a16:creationId xmlns:a16="http://schemas.microsoft.com/office/drawing/2014/main" id="{ADAEE8A6-C50A-AC66-87E8-17E4EECEE252}"/>
                </a:ext>
              </a:extLst>
            </p:cNvPr>
            <p:cNvSpPr txBox="1"/>
            <p:nvPr/>
          </p:nvSpPr>
          <p:spPr>
            <a:xfrm>
              <a:off x="160268" y="4363577"/>
              <a:ext cx="2406625" cy="646331"/>
            </a:xfrm>
            <a:prstGeom prst="rect">
              <a:avLst/>
            </a:prstGeom>
            <a:noFill/>
          </p:spPr>
          <p:txBody>
            <a:bodyPr wrap="square">
              <a:spAutoFit/>
            </a:bodyPr>
            <a:lstStyle/>
            <a:p>
              <a:r>
                <a:rPr lang="en-US" b="1" dirty="0"/>
                <a:t>High Quality, Strength </a:t>
              </a:r>
            </a:p>
            <a:p>
              <a:pPr algn="ctr"/>
              <a:r>
                <a:rPr lang="en-US" b="1" dirty="0"/>
                <a:t>and Durability</a:t>
              </a:r>
              <a:endParaRPr lang="en-IN" b="1" dirty="0"/>
            </a:p>
          </p:txBody>
        </p:sp>
        <p:sp>
          <p:nvSpPr>
            <p:cNvPr id="27" name="TextBox 26">
              <a:extLst>
                <a:ext uri="{FF2B5EF4-FFF2-40B4-BE49-F238E27FC236}">
                  <a16:creationId xmlns:a16="http://schemas.microsoft.com/office/drawing/2014/main" id="{5CF67E31-862E-D5D1-71D6-1A4D1E93632D}"/>
                </a:ext>
              </a:extLst>
            </p:cNvPr>
            <p:cNvSpPr txBox="1"/>
            <p:nvPr/>
          </p:nvSpPr>
          <p:spPr>
            <a:xfrm>
              <a:off x="-125907" y="4948422"/>
              <a:ext cx="3242044" cy="1754326"/>
            </a:xfrm>
            <a:prstGeom prst="rect">
              <a:avLst/>
            </a:prstGeom>
            <a:noFill/>
          </p:spPr>
          <p:txBody>
            <a:bodyPr wrap="square" rtlCol="0">
              <a:spAutoFit/>
            </a:bodyPr>
            <a:lstStyle/>
            <a:p>
              <a:pPr algn="ctr"/>
              <a:r>
                <a:rPr lang="en-US" dirty="0"/>
                <a:t>Microtech’s Camlock is Corrosion- resistant GI Material and Built to withstand heavy load and frequent use, Engineered with precision for Consistent Performance  </a:t>
              </a:r>
              <a:endParaRPr lang="en-IN" dirty="0"/>
            </a:p>
          </p:txBody>
        </p:sp>
        <p:pic>
          <p:nvPicPr>
            <p:cNvPr id="9" name="Picture 8">
              <a:extLst>
                <a:ext uri="{FF2B5EF4-FFF2-40B4-BE49-F238E27FC236}">
                  <a16:creationId xmlns:a16="http://schemas.microsoft.com/office/drawing/2014/main" id="{6EBFB99C-563B-160F-AD7B-9DC7BA41F290}"/>
                </a:ext>
              </a:extLst>
            </p:cNvPr>
            <p:cNvPicPr>
              <a:picLocks noChangeAspect="1"/>
            </p:cNvPicPr>
            <p:nvPr/>
          </p:nvPicPr>
          <p:blipFill>
            <a:blip r:embed="rId6"/>
            <a:stretch>
              <a:fillRect/>
            </a:stretch>
          </p:blipFill>
          <p:spPr>
            <a:xfrm>
              <a:off x="900121" y="3289285"/>
              <a:ext cx="1019898" cy="1115976"/>
            </a:xfrm>
            <a:prstGeom prst="rect">
              <a:avLst/>
            </a:prstGeom>
            <a:ln>
              <a:solidFill>
                <a:schemeClr val="tx1"/>
              </a:solidFill>
            </a:ln>
          </p:spPr>
        </p:pic>
      </p:grpSp>
    </p:spTree>
    <p:extLst>
      <p:ext uri="{BB962C8B-B14F-4D97-AF65-F5344CB8AC3E}">
        <p14:creationId xmlns:p14="http://schemas.microsoft.com/office/powerpoint/2010/main" val="3410053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13740-20B4-F548-0349-58E30C4802DD}"/>
              </a:ext>
            </a:extLst>
          </p:cNvPr>
          <p:cNvSpPr>
            <a:spLocks noGrp="1"/>
          </p:cNvSpPr>
          <p:nvPr>
            <p:ph type="title"/>
          </p:nvPr>
        </p:nvSpPr>
        <p:spPr>
          <a:xfrm>
            <a:off x="436434" y="4061458"/>
            <a:ext cx="10515600" cy="455006"/>
          </a:xfrm>
        </p:spPr>
        <p:txBody>
          <a:bodyPr>
            <a:normAutofit/>
          </a:bodyPr>
          <a:lstStyle/>
          <a:p>
            <a:r>
              <a:rPr lang="en-US" sz="2300" b="1" dirty="0"/>
              <a:t>Materials For Metal Stampings Parts </a:t>
            </a:r>
            <a:endParaRPr lang="en-IN" sz="2300" b="1" dirty="0"/>
          </a:p>
        </p:txBody>
      </p:sp>
      <p:sp>
        <p:nvSpPr>
          <p:cNvPr id="8" name="TextBox 7">
            <a:extLst>
              <a:ext uri="{FF2B5EF4-FFF2-40B4-BE49-F238E27FC236}">
                <a16:creationId xmlns:a16="http://schemas.microsoft.com/office/drawing/2014/main" id="{583D1B9E-731B-A630-5835-69F9BB61DF33}"/>
              </a:ext>
            </a:extLst>
          </p:cNvPr>
          <p:cNvSpPr txBox="1"/>
          <p:nvPr/>
        </p:nvSpPr>
        <p:spPr>
          <a:xfrm>
            <a:off x="536714" y="4794760"/>
            <a:ext cx="4045226" cy="1754326"/>
          </a:xfrm>
          <a:prstGeom prst="rect">
            <a:avLst/>
          </a:prstGeom>
          <a:noFill/>
        </p:spPr>
        <p:txBody>
          <a:bodyPr wrap="square" rtlCol="0">
            <a:spAutoFit/>
          </a:bodyPr>
          <a:lstStyle/>
          <a:p>
            <a:pPr marL="285750" indent="-285750">
              <a:buFont typeface="Wingdings" panose="05000000000000000000" pitchFamily="2" charset="2"/>
              <a:buChar char="Ø"/>
            </a:pPr>
            <a:r>
              <a:rPr lang="en-US" dirty="0"/>
              <a:t>GI Metal Shet</a:t>
            </a:r>
          </a:p>
          <a:p>
            <a:pPr marL="285750" indent="-285750">
              <a:buFont typeface="Wingdings" panose="05000000000000000000" pitchFamily="2" charset="2"/>
              <a:buChar char="Ø"/>
            </a:pPr>
            <a:r>
              <a:rPr lang="en-IN" dirty="0"/>
              <a:t>Stainless steel stamped par</a:t>
            </a:r>
          </a:p>
          <a:p>
            <a:pPr marL="285750" indent="-285750">
              <a:buFont typeface="Wingdings" panose="05000000000000000000" pitchFamily="2" charset="2"/>
              <a:buChar char="Ø"/>
            </a:pPr>
            <a:r>
              <a:rPr lang="en-IN" dirty="0"/>
              <a:t>Aluminium stamped parts</a:t>
            </a:r>
          </a:p>
          <a:p>
            <a:pPr marL="285750" indent="-285750">
              <a:buFont typeface="Wingdings" panose="05000000000000000000" pitchFamily="2" charset="2"/>
              <a:buChar char="Ø"/>
            </a:pPr>
            <a:r>
              <a:rPr lang="en-IN" dirty="0"/>
              <a:t>Copper stampings</a:t>
            </a:r>
          </a:p>
          <a:p>
            <a:pPr marL="285750" indent="-285750">
              <a:buFont typeface="Wingdings" panose="05000000000000000000" pitchFamily="2" charset="2"/>
              <a:buChar char="Ø"/>
            </a:pPr>
            <a:r>
              <a:rPr lang="en-IN" dirty="0"/>
              <a:t>Carbon Steel</a:t>
            </a:r>
            <a:endParaRPr lang="en-US" dirty="0"/>
          </a:p>
          <a:p>
            <a:pPr marL="285750" indent="-285750">
              <a:buFont typeface="Wingdings" panose="05000000000000000000" pitchFamily="2" charset="2"/>
              <a:buChar char="Ø"/>
            </a:pPr>
            <a:endParaRPr lang="en-IN" dirty="0"/>
          </a:p>
        </p:txBody>
      </p:sp>
      <p:sp>
        <p:nvSpPr>
          <p:cNvPr id="9" name="TextBox 8">
            <a:extLst>
              <a:ext uri="{FF2B5EF4-FFF2-40B4-BE49-F238E27FC236}">
                <a16:creationId xmlns:a16="http://schemas.microsoft.com/office/drawing/2014/main" id="{57761AB8-0D25-4276-4E0B-9C8D00B7F937}"/>
              </a:ext>
            </a:extLst>
          </p:cNvPr>
          <p:cNvSpPr txBox="1"/>
          <p:nvPr/>
        </p:nvSpPr>
        <p:spPr>
          <a:xfrm>
            <a:off x="4263443" y="4794760"/>
            <a:ext cx="4045226" cy="923330"/>
          </a:xfrm>
          <a:prstGeom prst="rect">
            <a:avLst/>
          </a:prstGeom>
          <a:noFill/>
        </p:spPr>
        <p:txBody>
          <a:bodyPr wrap="square" rtlCol="0">
            <a:spAutoFit/>
          </a:bodyPr>
          <a:lstStyle/>
          <a:p>
            <a:pPr marL="285750" indent="-285750">
              <a:buFont typeface="Wingdings" panose="05000000000000000000" pitchFamily="2" charset="2"/>
              <a:buChar char="Ø"/>
            </a:pPr>
            <a:r>
              <a:rPr lang="en-US" dirty="0"/>
              <a:t>Small Metal Parts</a:t>
            </a:r>
          </a:p>
          <a:p>
            <a:pPr marL="285750" indent="-285750">
              <a:buFont typeface="Wingdings" panose="05000000000000000000" pitchFamily="2" charset="2"/>
              <a:buChar char="Ø"/>
            </a:pPr>
            <a:r>
              <a:rPr lang="en-IN" dirty="0"/>
              <a:t>Deep drawing parts</a:t>
            </a:r>
            <a:endParaRPr lang="en-US" dirty="0"/>
          </a:p>
          <a:p>
            <a:pPr marL="285750" indent="-285750">
              <a:buFont typeface="Wingdings" panose="05000000000000000000" pitchFamily="2" charset="2"/>
              <a:buChar char="Ø"/>
            </a:pPr>
            <a:endParaRPr lang="en-IN" dirty="0"/>
          </a:p>
        </p:txBody>
      </p:sp>
      <p:sp>
        <p:nvSpPr>
          <p:cNvPr id="6" name="TextBox 5">
            <a:extLst>
              <a:ext uri="{FF2B5EF4-FFF2-40B4-BE49-F238E27FC236}">
                <a16:creationId xmlns:a16="http://schemas.microsoft.com/office/drawing/2014/main" id="{6C5170D5-9BBE-6F45-B5A5-AA7CD14C2496}"/>
              </a:ext>
            </a:extLst>
          </p:cNvPr>
          <p:cNvSpPr txBox="1"/>
          <p:nvPr/>
        </p:nvSpPr>
        <p:spPr>
          <a:xfrm>
            <a:off x="612230" y="2742277"/>
            <a:ext cx="4223208" cy="1200329"/>
          </a:xfrm>
          <a:prstGeom prst="rect">
            <a:avLst/>
          </a:prstGeom>
          <a:noFill/>
        </p:spPr>
        <p:txBody>
          <a:bodyPr wrap="square" rtlCol="0">
            <a:spAutoFit/>
          </a:bodyPr>
          <a:lstStyle/>
          <a:p>
            <a:pPr marL="285750" indent="-285750">
              <a:buFont typeface="Wingdings" panose="05000000000000000000" pitchFamily="2" charset="2"/>
              <a:buChar char="Ø"/>
            </a:pPr>
            <a:r>
              <a:rPr lang="en-IN" dirty="0"/>
              <a:t>Sheet metal stamping</a:t>
            </a:r>
          </a:p>
          <a:p>
            <a:pPr marL="285750" indent="-285750">
              <a:buFont typeface="Wingdings" panose="05000000000000000000" pitchFamily="2" charset="2"/>
              <a:buChar char="Ø"/>
            </a:pPr>
            <a:r>
              <a:rPr lang="en-US" dirty="0"/>
              <a:t>Precision Metal Stampings</a:t>
            </a:r>
          </a:p>
          <a:p>
            <a:pPr marL="285750" indent="-285750">
              <a:buFont typeface="Wingdings" panose="05000000000000000000" pitchFamily="2" charset="2"/>
              <a:buChar char="Ø"/>
            </a:pPr>
            <a:r>
              <a:rPr lang="en-IN" dirty="0"/>
              <a:t>Custom metal stamping</a:t>
            </a:r>
          </a:p>
          <a:p>
            <a:pPr marL="285750" indent="-285750">
              <a:buFont typeface="Wingdings" panose="05000000000000000000" pitchFamily="2" charset="2"/>
              <a:buChar char="Ø"/>
            </a:pPr>
            <a:r>
              <a:rPr lang="en-IN" dirty="0"/>
              <a:t>Deep Drawn Stamping</a:t>
            </a:r>
          </a:p>
        </p:txBody>
      </p:sp>
      <p:sp>
        <p:nvSpPr>
          <p:cNvPr id="7" name="TextBox 6">
            <a:extLst>
              <a:ext uri="{FF2B5EF4-FFF2-40B4-BE49-F238E27FC236}">
                <a16:creationId xmlns:a16="http://schemas.microsoft.com/office/drawing/2014/main" id="{66E97455-1417-5F6A-2BE7-815DD4F1F3AC}"/>
              </a:ext>
            </a:extLst>
          </p:cNvPr>
          <p:cNvSpPr txBox="1"/>
          <p:nvPr/>
        </p:nvSpPr>
        <p:spPr>
          <a:xfrm>
            <a:off x="4835438" y="2841669"/>
            <a:ext cx="2762054" cy="1200329"/>
          </a:xfrm>
          <a:prstGeom prst="rect">
            <a:avLst/>
          </a:prstGeom>
          <a:noFill/>
        </p:spPr>
        <p:txBody>
          <a:bodyPr wrap="square" rtlCol="0">
            <a:spAutoFit/>
          </a:bodyPr>
          <a:lstStyle/>
          <a:p>
            <a:pPr marL="285750" indent="-285750">
              <a:buFont typeface="Wingdings" panose="05000000000000000000" pitchFamily="2" charset="2"/>
              <a:buChar char="Ø"/>
            </a:pPr>
            <a:r>
              <a:rPr lang="en-IN" dirty="0"/>
              <a:t>Metal Forming</a:t>
            </a:r>
          </a:p>
          <a:p>
            <a:pPr marL="285750" indent="-285750">
              <a:buFont typeface="Wingdings" panose="05000000000000000000" pitchFamily="2" charset="2"/>
              <a:buChar char="Ø"/>
            </a:pPr>
            <a:r>
              <a:rPr lang="en-IN" dirty="0"/>
              <a:t>Metal bending</a:t>
            </a:r>
          </a:p>
          <a:p>
            <a:pPr marL="285750" indent="-285750">
              <a:buFont typeface="Wingdings" panose="05000000000000000000" pitchFamily="2" charset="2"/>
              <a:buChar char="Ø"/>
            </a:pPr>
            <a:r>
              <a:rPr lang="en-IN" dirty="0"/>
              <a:t>Deep Drawn Stamping</a:t>
            </a:r>
          </a:p>
          <a:p>
            <a:pPr marL="285750" indent="-285750">
              <a:buFont typeface="Wingdings" panose="05000000000000000000" pitchFamily="2" charset="2"/>
              <a:buChar char="Ø"/>
            </a:pPr>
            <a:endParaRPr lang="en-IN" dirty="0"/>
          </a:p>
        </p:txBody>
      </p:sp>
      <p:sp>
        <p:nvSpPr>
          <p:cNvPr id="5" name="Title 1">
            <a:extLst>
              <a:ext uri="{FF2B5EF4-FFF2-40B4-BE49-F238E27FC236}">
                <a16:creationId xmlns:a16="http://schemas.microsoft.com/office/drawing/2014/main" id="{406C575E-9CC8-C961-BAA1-CF5CDA5D9B0E}"/>
              </a:ext>
            </a:extLst>
          </p:cNvPr>
          <p:cNvSpPr txBox="1">
            <a:spLocks/>
          </p:cNvSpPr>
          <p:nvPr/>
        </p:nvSpPr>
        <p:spPr>
          <a:xfrm>
            <a:off x="377072" y="2153296"/>
            <a:ext cx="3373225" cy="603316"/>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t>Sheet Metal Components</a:t>
            </a:r>
            <a:endParaRPr lang="en-IN" sz="2400" b="1" dirty="0"/>
          </a:p>
        </p:txBody>
      </p:sp>
    </p:spTree>
    <p:extLst>
      <p:ext uri="{BB962C8B-B14F-4D97-AF65-F5344CB8AC3E}">
        <p14:creationId xmlns:p14="http://schemas.microsoft.com/office/powerpoint/2010/main" val="3526470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809</TotalTime>
  <Words>593</Words>
  <Application>Microsoft Office PowerPoint</Application>
  <PresentationFormat>Widescreen</PresentationFormat>
  <Paragraphs>80</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Agency FB</vt:lpstr>
      <vt:lpstr>Algerian</vt:lpstr>
      <vt:lpstr>Arial</vt:lpstr>
      <vt:lpstr>Calibri</vt:lpstr>
      <vt:lpstr>Calibri Light</vt:lpstr>
      <vt:lpstr>Wingdings</vt:lpstr>
      <vt:lpstr>Office Theme</vt:lpstr>
      <vt:lpstr>About Company</vt:lpstr>
      <vt:lpstr>PowerPoint Presentation</vt:lpstr>
      <vt:lpstr>Machines</vt:lpstr>
      <vt:lpstr>PowerPoint Presentation</vt:lpstr>
      <vt:lpstr>PowerPoint Presentation</vt:lpstr>
      <vt:lpstr>Our Products</vt:lpstr>
      <vt:lpstr>Materials For Metal Stampings Parts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Rn Attar</dc:creator>
  <cp:lastModifiedBy>Rn Attar</cp:lastModifiedBy>
  <cp:revision>12</cp:revision>
  <dcterms:created xsi:type="dcterms:W3CDTF">2025-08-28T11:03:22Z</dcterms:created>
  <dcterms:modified xsi:type="dcterms:W3CDTF">2025-09-09T12:09:08Z</dcterms:modified>
</cp:coreProperties>
</file>